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914400"/>
            <a:ext cx="2103120" cy="329184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914400"/>
            <a:ext cx="365760" cy="329184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โครงสร้าง /app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14600"/>
            <a:ext cx="2743200" cy="4572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B0C8"/>
                </a:solidFill>
                <a:latin typeface="Calibri"/>
              </a:rPr>
              <a:t>Tire Production Monitoring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7590"/>
                </a:solidFill>
                <a:latin typeface="Calibri"/>
              </a:rPr>
              <a:t>Nuxt 3  ·  TypeScript  ·  Supabase  ·  Tailwind 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713232" cy="237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685032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Vue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99032" y="3657600"/>
            <a:ext cx="804672" cy="237744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3685032"/>
            <a:ext cx="749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Nuxt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40864" y="3657600"/>
            <a:ext cx="1170432" cy="237744"/>
          </a:xfrm>
          <a:prstGeom prst="rect">
            <a:avLst/>
          </a:prstGeom>
          <a:solidFill>
            <a:srgbClr val="703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6584" y="3685032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TypeScript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8456" y="3657600"/>
            <a:ext cx="987552" cy="237744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4176" y="3685032"/>
            <a:ext cx="9326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Supabase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A70"/>
                </a:solidFill>
                <a:latin typeface="Calibri"/>
              </a:rPr>
              <a:t>Nawaloha Industry Company (NIC)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1188720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188720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52944" y="1188720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08976" y="1188720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5008" y="1188720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1188720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1700784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1700784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52944" y="1700784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08976" y="1700784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65008" y="1700784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1700784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2212848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2212848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52944" y="2212848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08976" y="2212848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65008" y="2212848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21040" y="2212848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2724912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96912" y="2724912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52944" y="2724912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08976" y="2724912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65008" y="2724912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21040" y="2724912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40880" y="3236976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296912" y="3236976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52944" y="3236976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808976" y="3236976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65008" y="3236976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21040" y="3236976"/>
            <a:ext cx="54864" cy="54864"/>
          </a:xfrm>
          <a:prstGeom prst="rect">
            <a:avLst/>
          </a:prstGeom>
          <a:solidFill>
            <a:srgbClr val="2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📁  โครงสร้างโฟลเดอร์ /app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640080"/>
            <a:ext cx="420624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640080"/>
            <a:ext cx="64008" cy="429768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BE181C"/>
                </a:solidFill>
                <a:latin typeface="Consolas"/>
              </a:rPr>
              <a:t>📁 /app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64748B"/>
                </a:solidFill>
                <a:latin typeface="Consolas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A1A2E"/>
                </a:solidFill>
                <a:latin typeface="Consolas"/>
              </a:rPr>
              <a:t>  ├── 📄 app.vue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D6FA8"/>
                </a:solidFill>
                <a:latin typeface="Consolas"/>
              </a:rPr>
              <a:t>  ├── 📁 assets/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  │     └── css/main.css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D6FA8"/>
                </a:solidFill>
                <a:latin typeface="Consolas"/>
              </a:rPr>
              <a:t>  ├── 📁 components/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  │     ├── AlarmPopup.vue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  │     ├── MachineLayoutViewer.vue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  │     └── MachineNode.vue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D6FA8"/>
                </a:solidFill>
                <a:latin typeface="Consolas"/>
              </a:rPr>
              <a:t>  ├── 📁 composables/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  │     ├── useAdmin.ts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  │     ├── useAuth.ts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  │     └── useMachines.ts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D6FA8"/>
                </a:solidFill>
                <a:latin typeface="Consolas"/>
              </a:rPr>
              <a:t>  ├── 📁 layouts/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  │     ├── dashboard.vue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  │     └── default.vue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D6FA8"/>
                </a:solidFill>
                <a:latin typeface="Consolas"/>
              </a:rPr>
              <a:t>  ├── 📁 middleware/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  │     ├── auth.global.ts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  │     └── admin.ts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D6FA8"/>
                </a:solidFill>
                <a:latin typeface="Consolas"/>
              </a:rPr>
              <a:t>  ├── 📁 pages/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  │     ├── index.vue  login.vue  home.vue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  │     ├── machines.vue  oee.vue  signup.vue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  │     └── 📁 dashboard/ (5 pages)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D6FA8"/>
                </a:solidFill>
                <a:latin typeface="Consolas"/>
              </a:rPr>
              <a:t>  └── 📁 plugins/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4748B"/>
                </a:solidFill>
                <a:latin typeface="Consolas"/>
              </a:rPr>
              <a:t>        └── supabase.ts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640080"/>
            <a:ext cx="20116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640080"/>
            <a:ext cx="2011680" cy="54864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731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🔌 Entry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98755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app.vue — จุดเริ่มต้น
ของแอปพลิเคชัน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640080"/>
            <a:ext cx="20116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640080"/>
            <a:ext cx="201168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7728" y="731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🎨 Assets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98755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CSS global styles,
Tailwind + DaisyUI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719072"/>
            <a:ext cx="20116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1719072"/>
            <a:ext cx="2011680" cy="54864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1810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🧩 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2066543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3 Vue components
สำหรับ UI ย่อย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1719072"/>
            <a:ext cx="20116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0" y="1719072"/>
            <a:ext cx="201168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67728" y="1810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🪝 Composables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2066543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Logic ที่ใช้ซ้ำ:
Auth, Machines, Admin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2798063"/>
            <a:ext cx="20116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63440" y="2798063"/>
            <a:ext cx="2011680" cy="54864"/>
          </a:xfrm>
          <a:prstGeom prst="rect">
            <a:avLst/>
          </a:prstGeom>
          <a:solidFill>
            <a:srgbClr val="703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288950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🗺 Layouts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3145535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2 layouts:
Default &amp; Dashboard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798063"/>
            <a:ext cx="20116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0" y="2798063"/>
            <a:ext cx="2011680" cy="54864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7728" y="288950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🔒 Middleware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3145535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Route guards:
Auth + Admin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3877056"/>
            <a:ext cx="20116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63440" y="3877056"/>
            <a:ext cx="2011680" cy="54864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73168" y="39684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📄 Pages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422452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10+ หน้า รวม
dashboard sub-pages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3877056"/>
            <a:ext cx="20116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0" y="3877056"/>
            <a:ext cx="2011680" cy="54864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39684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🔗 Plugins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7728" y="422452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Supabase client
ตั้งค่าครั้งเดียว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⚡  Entry Point, Assets &amp; Plugin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64008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640080"/>
            <a:ext cx="2743200" cy="54864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40080"/>
            <a:ext cx="54864" cy="201168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E181C"/>
                </a:solidFill>
                <a:latin typeface="Calibri"/>
              </a:rPr>
              <a:t>📄 app.vue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51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Root component ของ Nuxt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44168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• ครอบด้วย &lt;NuxtLayout&gt;
• Render &lt;NuxtPage&gt; ตาม URL
• จุดเริ่มต้นของ component tree ทั้งหมด
• Layout จะถูกเลือกจาก definePageMeta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23160"/>
            <a:ext cx="2606040" cy="502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4505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9C0FF"/>
                </a:solidFill>
                <a:latin typeface="Consolas"/>
              </a:rPr>
              <a:t>&lt;NuxtLayout&gt;
  &lt;NuxtPage /&gt;
&lt;/NuxtLayout&gt;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640080"/>
            <a:ext cx="28346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640080"/>
            <a:ext cx="283464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640080"/>
            <a:ext cx="54864" cy="2011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7132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🎨 assets/css/main.css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1051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Global Stylesheet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32588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6FA8"/>
                </a:solidFill>
                <a:latin typeface="Consolas"/>
              </a:rPr>
              <a:t>Noto Sans Thai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3258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font-family หลัก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15270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6FA8"/>
                </a:solidFill>
                <a:latin typeface="Consolas"/>
              </a:rPr>
              <a:t>@import tailwindcss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5270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Utility CSS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172821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6FA8"/>
                </a:solidFill>
                <a:latin typeface="Consolas"/>
              </a:rPr>
              <a:t>@plugin daisyui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72821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Component 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192938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6FA8"/>
                </a:solidFill>
                <a:latin typeface="Consolas"/>
              </a:rPr>
              <a:t>CSS Variables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192938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--blue-sidebar, --red-alarm ฯลฯ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213055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6FA8"/>
                </a:solidFill>
                <a:latin typeface="Consolas"/>
              </a:rPr>
              <a:t>.status-dot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1305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Animated status indicators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33172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6FA8"/>
                </a:solidFill>
                <a:latin typeface="Consolas"/>
              </a:rPr>
              <a:t>.bg-gradient-blue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3317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Blue gradient helpers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64008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640080"/>
            <a:ext cx="2651760" cy="54864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640080"/>
            <a:ext cx="54864" cy="2011680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7132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7A83"/>
                </a:solidFill>
                <a:latin typeface="Calibri"/>
              </a:rPr>
              <a:t>🔗 plugins/supabase.ts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1051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Database Connection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1353312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สร้าง Supabase client จาก
runtime config และ inject
เข้า Nuxt app ในชื่อ $supabase
ใช้งานผ่าน useNuxtApp():
const { $supabase } = useNuxtApp()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3063240"/>
            <a:ext cx="8686800" cy="45720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🔄  Initialization Flow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566160"/>
            <a:ext cx="1508760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6576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nuxt.config.ts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01368" y="37033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79" y="3566160"/>
            <a:ext cx="1508760" cy="457200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399" y="36576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plugins/supabase.ts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8727" y="37033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39" y="3566160"/>
            <a:ext cx="1508760" cy="45720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94759" y="36576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app.vue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76088" y="37033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399" y="3566160"/>
            <a:ext cx="1508760" cy="457200"/>
          </a:xfrm>
          <a:prstGeom prst="rect">
            <a:avLst/>
          </a:prstGeom>
          <a:solidFill>
            <a:srgbClr val="703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19" y="36576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layouts/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13447" y="37033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23759" y="3566160"/>
            <a:ext cx="1508760" cy="45720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69479" y="36576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pages/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🪝  Composables — Logic ที่ใช้ซ้ำได้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6928"/>
            <a:ext cx="1170432" cy="237744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useAuth.ts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566928"/>
            <a:ext cx="1536192" cy="237744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39" y="594360"/>
            <a:ext cx="1481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useMachines.ts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566928"/>
            <a:ext cx="1261872" cy="237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594360"/>
            <a:ext cx="1207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useAdmin.ts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868680"/>
            <a:ext cx="292608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868680"/>
            <a:ext cx="64008" cy="406908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914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E181C"/>
                </a:solidFill>
                <a:latin typeface="Calibri"/>
              </a:rPr>
              <a:t>useAuth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2618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จัดการ Authentication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" y="1572768"/>
            <a:ext cx="2697480" cy="457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62763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E181C"/>
                </a:solidFill>
                <a:latin typeface="Consolas"/>
              </a:rPr>
              <a:t>init()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18288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โหลด session จาก localStorage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" y="2212848"/>
            <a:ext cx="2697480" cy="457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26771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E181C"/>
                </a:solidFill>
                <a:latin typeface="Consolas"/>
              </a:rPr>
              <a:t>getSession()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4688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คืนค่า session ปัจจุบัน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2852928"/>
            <a:ext cx="2697480" cy="457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90779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E181C"/>
                </a:solidFill>
                <a:latin typeface="Consolas"/>
              </a:rPr>
              <a:t>signIn(email, pwd)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108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ตรวจสอบ email/username
+ password กับ Supabase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" y="3493008"/>
            <a:ext cx="2697480" cy="457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54787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E181C"/>
                </a:solidFill>
                <a:latin typeface="Consolas"/>
              </a:rPr>
              <a:t>signUp(email, pwd, name)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749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สร้าง user ใหม่
(active: false รอ approve)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4133088"/>
            <a:ext cx="2697480" cy="457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18795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E181C"/>
                </a:solidFill>
                <a:latin typeface="Consolas"/>
              </a:rPr>
              <a:t>signOut()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3891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ล้าง session + localStorage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" y="4617720"/>
            <a:ext cx="2697480" cy="201168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462686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E181C"/>
                </a:solidFill>
                <a:latin typeface="Consolas"/>
              </a:rPr>
              <a:t>State: user, session (useState)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868680"/>
            <a:ext cx="283464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868680"/>
            <a:ext cx="64008" cy="406908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93008" y="914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6FA8"/>
                </a:solidFill>
                <a:latin typeface="Calibri"/>
              </a:rPr>
              <a:t>useMachines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3008" y="12618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ดึงข้อมูลเครื่องจักรจาก Supabase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01568" y="1572768"/>
            <a:ext cx="2606040" cy="457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38144" y="16276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6FA8"/>
                </a:solidFill>
                <a:latin typeface="Consolas"/>
              </a:rPr>
              <a:t>getMachines()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38144" y="1828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ดึงรายชื่อเครื่องจักรทั้งหมด
เรียงตามชื่อ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01568" y="2212848"/>
            <a:ext cx="2606040" cy="457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38144" y="226771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6FA8"/>
                </a:solidFill>
                <a:latin typeface="Consolas"/>
              </a:rPr>
              <a:t>getMachineLayoutPoints()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38144" y="2468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ดึงตำแหน่ง dot บน layout
พร้อม join ข้อมูล machine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01568" y="2852928"/>
            <a:ext cx="2606040" cy="457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38144" y="29077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6FA8"/>
                </a:solidFill>
                <a:latin typeface="Consolas"/>
              </a:rPr>
              <a:t>getMachineAlarms(id?, active?)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38144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ดึง alarm ของเครื่อง
กรอง active หรือทั้งหมด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01568" y="3493008"/>
            <a:ext cx="2606040" cy="457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38144" y="354787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6FA8"/>
                </a:solidFill>
                <a:latin typeface="Consolas"/>
              </a:rPr>
              <a:t>getMachineStatusLog(id, limit)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38144" y="3749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ดึง log สถานะ
50 รายการล่าสุด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01568" y="4133088"/>
            <a:ext cx="2606040" cy="457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38144" y="418795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6FA8"/>
                </a:solidFill>
                <a:latin typeface="Consolas"/>
              </a:rPr>
              <a:t>getMachineOEE(id, days)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38144" y="4389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ดึงข้อมูล OEE รายวัน
7 วันย้อนหลัง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01568" y="4617720"/>
            <a:ext cx="2606040" cy="201168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38144" y="4626864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6FA8"/>
                </a:solidFill>
                <a:latin typeface="Consolas"/>
              </a:rPr>
              <a:t>Tables: machines, machine_alarm, machine_oee_daily...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868680"/>
            <a:ext cx="260604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09360" y="868680"/>
            <a:ext cx="64008" cy="4069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10528" y="914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A34A"/>
                </a:solidFill>
                <a:latin typeface="Calibri"/>
              </a:rPr>
              <a:t>useAdmin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10528" y="12618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ตรวจสอบสิทธิ์ Admin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10528" y="16459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Consolas"/>
              </a:rPr>
              <a:t>isAdmin (computed)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10528" y="1874519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ตรวจ role ว่าเป็น
admin / superadmin / owner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10528" y="23591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Consolas"/>
              </a:rPr>
              <a:t>refreshAdminState()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10528" y="25877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เรียก init() แล้วคืน
ค่า isAdmin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46520" y="3063240"/>
            <a:ext cx="2377440" cy="45720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10528" y="32004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Roles ที่มีสิทธิ์: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10528" y="3520440"/>
            <a:ext cx="713232" cy="237744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56248" y="3547872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0" y="3520440"/>
            <a:ext cx="1170432" cy="237744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60920" y="3547872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superadmin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19872" y="3520440"/>
            <a:ext cx="713232" cy="237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65592" y="3547872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10528" y="39319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State: adminProfile,
adminMembership
(ใช้ setState เพื่อ
รองรับ API เดิม)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🔒  Middleware — Route Guards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640080"/>
            <a:ext cx="8686800" cy="5943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640080"/>
            <a:ext cx="64008" cy="59436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Nuxt Middleware คือ code ที่รันก่อน render หน้า — ใช้ตรวจสอบ session และกำหนด redirect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429768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371600"/>
            <a:ext cx="64008" cy="338328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4447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E181C"/>
                </a:solidFill>
                <a:latin typeface="Calibri"/>
              </a:rPr>
              <a:t>🔐 auth.global.ts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1810512"/>
            <a:ext cx="1901952" cy="237744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837943"/>
            <a:ext cx="18470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E181C"/>
                </a:solidFill>
                <a:latin typeface="Calibri"/>
              </a:rPr>
              <a:t>GLOBAL (ทุก route)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057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ทำงานอัตโนมัติทุกครั้งที่มีการ navigate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2423160"/>
            <a:ext cx="274320" cy="2743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450591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423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ข้าม middleware บน Server side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" y="2990088"/>
            <a:ext cx="274320" cy="27432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301752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29900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เรียก getSession() เพื่อดึง session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" y="3557015"/>
            <a:ext cx="274320" cy="27432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584447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557015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ถ้าไม่มี session + ไม่ใช่ /login
→ redirect ไป /login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" y="4123944"/>
            <a:ext cx="27432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15137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12394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ถ้ามี session + พยายามเข้า /login
→ redirect ไป /home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1371600"/>
            <a:ext cx="416052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54880" y="1371600"/>
            <a:ext cx="64008" cy="3383280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56048" y="14447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7A83"/>
                </a:solidFill>
                <a:latin typeface="Calibri"/>
              </a:rPr>
              <a:t>🛡 admin.ts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56048" y="1810512"/>
            <a:ext cx="2267712" cy="237744"/>
          </a:xfrm>
          <a:prstGeom prst="rect">
            <a:avLst/>
          </a:prstGeom>
          <a:solidFill>
            <a:srgbClr val="DC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1768" y="1837943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7A83"/>
                </a:solidFill>
                <a:latin typeface="Calibri"/>
              </a:rPr>
              <a:t>NAMED (เรียกตาม route)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56048" y="2057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ใช้กับหน้าที่ต้องการสิทธิ์ admin เท่านั้น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6048" y="2423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ตั้งค่าใน page component: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2743200"/>
            <a:ext cx="3886200" cy="685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56048" y="277063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9C0FF"/>
                </a:solidFill>
                <a:latin typeface="Consolas"/>
              </a:rPr>
              <a:t>definePageMeta({
  middleware: ["admin"]
})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56048" y="35204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Logic: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6048" y="37673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เรียก refreshAdminState()
ถ้า isAdmin = false → redirect /my-courses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4754880"/>
            <a:ext cx="8686800" cy="45720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828032"/>
            <a:ext cx="192024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48463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/login  ✓ Public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14600" y="4828032"/>
            <a:ext cx="1920240" cy="292608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87752" y="48463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/home  🔒 Auth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4828032"/>
            <a:ext cx="1920240" cy="292608"/>
          </a:xfrm>
          <a:prstGeom prst="rect">
            <a:avLst/>
          </a:prstGeom>
          <a:solidFill>
            <a:srgbClr val="703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36592" y="48463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/dashboard/*  🔒 Auth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12279" y="4828032"/>
            <a:ext cx="1920240" cy="29260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85431" y="48463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/dashboard/settings  🛡 Admin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🗺  Layouts — โครงสร้าง UI หลัก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640080"/>
            <a:ext cx="42519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640080"/>
            <a:ext cx="4251960" cy="54864"/>
          </a:xfrm>
          <a:prstGeom prst="rect">
            <a:avLst/>
          </a:prstGeom>
          <a:solidFill>
            <a:srgbClr val="703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40080"/>
            <a:ext cx="64008" cy="4297680"/>
          </a:xfrm>
          <a:prstGeom prst="rect">
            <a:avLst/>
          </a:prstGeom>
          <a:solidFill>
            <a:srgbClr val="703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03BBC"/>
                </a:solidFill>
                <a:latin typeface="Calibri"/>
              </a:rPr>
              <a:t>default.vue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0698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Layout สำหรับหน้าสาธารณะ (marketing site)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3840480" cy="41148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Header (fixed)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3840480" cy="1554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&lt;slot /&gt;  (page content)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3840480" cy="36576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112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Footer (red bar)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393192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📌  Fixed top header + logo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411480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🔗  Navbar: ผลิตภัณฑ์, คอร์สอบรม, ติดต่อเรา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42976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👤  Login / Logout button (ดูสถานะ session)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48056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⚙️  Admin link (ถ้า isAdmin = true)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466344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🦶  Footer สีแดง (Copyright + links)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484632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🔤  Font: Kanit (Google Fonts)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640080"/>
            <a:ext cx="42519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640080"/>
            <a:ext cx="4251960" cy="54864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640080"/>
            <a:ext cx="64008" cy="429768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4608" y="7132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A8"/>
                </a:solidFill>
                <a:latin typeface="Calibri"/>
              </a:rPr>
              <a:t>dashboard.vue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10698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Layout สำหรับ Dashboard (monitoring app)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92040" y="1417320"/>
            <a:ext cx="777240" cy="242316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237744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Side
bar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0" y="1417320"/>
            <a:ext cx="3063240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6440" y="1481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Top Bar (Search + User)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0" y="1828800"/>
            <a:ext cx="306324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&lt;slot /&gt;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4608" y="393192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📌  Fixed sidebar (w-48) พื้นหลังขาว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4608" y="411480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🔗  Nav: Dashboard, Layout Line, Overview, Air Compressor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64608" y="429768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⚙️  Settings + Logout ด้านล่าง sidebar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4608" y="448056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🔍  Search bar + avatar display ด้านบน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4608" y="466344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👤  แสดงชื่อ user และ role (Admin/User)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64608" y="484632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🔤  Font: Kanit (Google Fonts)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📄  Pages — หน้าสาธารณะ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658368"/>
            <a:ext cx="4206240" cy="2029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420624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64008" cy="202996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7498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  <a:latin typeface="Calibri"/>
              </a:rPr>
              <a:t>index.vue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768096"/>
            <a:ext cx="347472" cy="237744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795528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115568"/>
            <a:ext cx="3840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Redirect อัตโนมัติ
ไปยัง /login
เป็น entry route ของ
แอปพลิเคชัน ไม่มี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658368"/>
            <a:ext cx="4206240" cy="2029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9160" y="658368"/>
            <a:ext cx="4206240" cy="54864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09160" y="658368"/>
            <a:ext cx="64008" cy="202996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7498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E181C"/>
                </a:solidFill>
                <a:latin typeface="Calibri"/>
              </a:rPr>
              <a:t>login.vue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768096"/>
            <a:ext cx="804672" cy="237744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795528"/>
            <a:ext cx="749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/login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115568"/>
            <a:ext cx="3840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หน้า Login
• Layout: ปิด layout (layout: false)
• พื้นหลังสีน้ำเงิน-เขียว
• Form: username + password
• แสดง error message
• Redirect ไป /home หลัง login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834639"/>
            <a:ext cx="4206240" cy="2029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2834639"/>
            <a:ext cx="420624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2834639"/>
            <a:ext cx="64008" cy="20299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9260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signup.vue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2944368"/>
            <a:ext cx="896112" cy="237744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2971799"/>
            <a:ext cx="841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/signup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291839"/>
            <a:ext cx="3840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หน้าสมัครสมาชิก
• รับ full_name, email, password
• เรียก useAuth().signUp()
• User จะ active: false
  ต้องรอ Admin อนุมัติ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2834639"/>
            <a:ext cx="4206240" cy="2029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09160" y="2834639"/>
            <a:ext cx="4206240" cy="54864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9160" y="2834639"/>
            <a:ext cx="64008" cy="2029968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29260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6FA8"/>
                </a:solidFill>
                <a:latin typeface="Calibri"/>
              </a:rPr>
              <a:t>home.vue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2944368"/>
            <a:ext cx="713232" cy="237744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2971799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/home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291839"/>
            <a:ext cx="3840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หน้าหลักหลัง login
• Sidebar มืด (dark theme)
• แสดง alarm stats:
  Total / Active / Critical
• Nav: Machines, OEE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📊  Pages — Dashboard Sub-pages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621792"/>
            <a:ext cx="8686800" cy="47548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64008" cy="475488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72237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ทุกหน้าใช้  layout: "dashboard"  +  middleware: ["auth"]  จาก definePageMeta()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70432"/>
            <a:ext cx="420624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70432"/>
            <a:ext cx="4206240" cy="4572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170432"/>
            <a:ext cx="64008" cy="169164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2252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6FA8"/>
                </a:solidFill>
                <a:latin typeface="Calibri"/>
              </a:rPr>
              <a:t>index.vue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243584"/>
            <a:ext cx="1170432" cy="237744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39" y="127101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/dashboard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155448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หน้าหลัก Dashboard
• Stat cards: Total Production, Efficiency
• Line chart: Movement Efficiency (รายชั่วโมง)
• Donut chart: Loss Time (Breakdown, Tool Change, Model Change, Q Adjust)
• Bar chart: %EFF By Line
• ดึงข้อมูลจาก 4 Supabase tables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1170432"/>
            <a:ext cx="420624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09160" y="1170432"/>
            <a:ext cx="4206240" cy="45720"/>
          </a:xfrm>
          <a:prstGeom prst="rect">
            <a:avLst/>
          </a:prstGeom>
          <a:solidFill>
            <a:srgbClr val="703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1170432"/>
            <a:ext cx="64008" cy="1691640"/>
          </a:xfrm>
          <a:prstGeom prst="rect">
            <a:avLst/>
          </a:prstGeom>
          <a:solidFill>
            <a:srgbClr val="703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3752" y="12252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03BBC"/>
                </a:solidFill>
                <a:latin typeface="Calibri"/>
              </a:rPr>
              <a:t>overview.vue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1243584"/>
            <a:ext cx="1993392" cy="237744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271016"/>
            <a:ext cx="1938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/dashboard/overview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155448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Overview Status
• เลือก Line (18 lines: HFW1–DB3)
• แสดง dot สี run/warn/stop บนภาพ machine
• Auto-refresh ทุก 5 วินาที
• Hover tooltip แสดง station + efficiency
• Modal popup เมื่อคลิก dot
• ตาราง status ด้านล่าง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999232"/>
            <a:ext cx="420624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2999232"/>
            <a:ext cx="4206240" cy="45720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2999232"/>
            <a:ext cx="64008" cy="1691640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30540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7A83"/>
                </a:solidFill>
                <a:latin typeface="Calibri"/>
              </a:rPr>
              <a:t>layout-line.vue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88920" y="3072384"/>
            <a:ext cx="2267712" cy="237744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39" y="3099816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/dashboard/layout-line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" y="338328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Layout Line
• แสดงแผนผัง layout เครื่องจักร
• ใช้ MachineLayoutViewer component
• แสดงตำแหน่ง machine nodes บน canvas
• เชื่อมต่อ machine_layout_point 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60" y="2999232"/>
            <a:ext cx="420624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9160" y="2999232"/>
            <a:ext cx="420624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09160" y="2999232"/>
            <a:ext cx="64008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73752" y="30540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air-compressor.vue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80" y="3072384"/>
            <a:ext cx="2542032" cy="237744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3099816"/>
            <a:ext cx="2487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/dashboard/air-compressor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3752" y="338328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Air Compressor
• Monitor ระบบ Air Compressor
• แสดงค่า pressure, status
• Real-time monitoring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5449824"/>
            <a:ext cx="8686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8600" y="5449824"/>
            <a:ext cx="8686800" cy="4572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" y="5449824"/>
            <a:ext cx="64008" cy="118872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55046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E181C"/>
                </a:solidFill>
                <a:latin typeface="Calibri"/>
              </a:rPr>
              <a:t>settings.vue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5522976"/>
            <a:ext cx="1993392" cy="237744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5550408"/>
            <a:ext cx="1938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/dashboard/settings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" y="5833872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Settings (Admin only)
• จัดการ User ทั้งหมด
• ค้นหาชื่อ/email
• เปลี่ยน role: user/admin/superadmin
• Toggle active/inactive
• ต้องการสิทธิ์ Admin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🧩  Components — UI Building Blocks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621792"/>
            <a:ext cx="2816352" cy="4315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2816352" cy="54864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21792"/>
            <a:ext cx="64008" cy="431596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69494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E181C"/>
                </a:solidFill>
                <a:latin typeface="Calibri"/>
              </a:rPr>
              <a:t>AlarmPopup.vue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05156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Toast notification สำหรับแจ้งเตือน alarm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2514600" cy="36576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3192" y="1508760"/>
            <a:ext cx="777240" cy="22860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527048"/>
            <a:ext cx="777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Props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17830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alarm: { alarm_name, alarm_code?, start_time 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2258568"/>
            <a:ext cx="777240" cy="22860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2276856"/>
            <a:ext cx="777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แสดงผล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253288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DaisyUI toast-end + alert-error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3008376"/>
            <a:ext cx="777240" cy="22860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3026664"/>
            <a:ext cx="777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ข้อมูล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" y="328269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alarm_name (ชื่อ alarm)
alarm_code (รหัส, optional)
start_time (เวลาเริ่มต้น)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" y="3758183"/>
            <a:ext cx="777240" cy="22860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3776471"/>
            <a:ext cx="777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Format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" y="4032503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toLocaleString th-TH
"DD Mon YYYY HH:MM"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621792"/>
            <a:ext cx="2816352" cy="4315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0" y="621792"/>
            <a:ext cx="2816352" cy="54864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0" y="621792"/>
            <a:ext cx="64008" cy="431596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4992" y="69494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7A83"/>
                </a:solidFill>
                <a:latin typeface="Calibri"/>
              </a:rPr>
              <a:t>MachineLayoutViewer.vue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4992" y="105156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แสดงแผนผัง layout เครื่องจักรแบบ visual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1417320"/>
            <a:ext cx="2514600" cy="36576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64992" y="1508760"/>
            <a:ext cx="777240" cy="228600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64992" y="1527048"/>
            <a:ext cx="777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หน้าที่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4992" y="17830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Render machine nodes บน layout canvas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64992" y="2258568"/>
            <a:ext cx="777240" cy="228600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64992" y="2276856"/>
            <a:ext cx="777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ใช้งาน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64992" y="253288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ใน dashboard/layout-line.vue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64992" y="3008376"/>
            <a:ext cx="777240" cy="228600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64992" y="3026664"/>
            <a:ext cx="777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ข้อมูล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64992" y="328269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machine_layout_point
(x, y, machine info)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64992" y="3758183"/>
            <a:ext cx="777240" cy="228600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64992" y="3776471"/>
            <a:ext cx="777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64992" y="4032503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Interactive viewer
ซูมและเลื่อนได้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621792"/>
            <a:ext cx="2816352" cy="4315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200" y="621792"/>
            <a:ext cx="2816352" cy="54864"/>
          </a:xfrm>
          <a:prstGeom prst="rect">
            <a:avLst/>
          </a:prstGeom>
          <a:solidFill>
            <a:srgbClr val="703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2200" y="621792"/>
            <a:ext cx="64008" cy="4315968"/>
          </a:xfrm>
          <a:prstGeom prst="rect">
            <a:avLst/>
          </a:prstGeom>
          <a:solidFill>
            <a:srgbClr val="703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36792" y="69494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03BBC"/>
                </a:solidFill>
                <a:latin typeface="Calibri"/>
              </a:rPr>
              <a:t>MachineNode.vue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6792" y="105156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แสดง node เครื่องจักรแต่ละตัวบน layout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1417320"/>
            <a:ext cx="2514600" cy="36576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36792" y="1508760"/>
            <a:ext cx="777240" cy="228600"/>
          </a:xfrm>
          <a:prstGeom prst="rect">
            <a:avLst/>
          </a:prstGeom>
          <a:solidFill>
            <a:srgbClr val="703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36792" y="1527048"/>
            <a:ext cx="777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หน้าที่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6792" y="17830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แสดงสถานะเครื่องเดียว
บน MachineLayoutViewer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36792" y="2258568"/>
            <a:ext cx="777240" cy="228600"/>
          </a:xfrm>
          <a:prstGeom prst="rect">
            <a:avLst/>
          </a:prstGeom>
          <a:solidFill>
            <a:srgbClr val="703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36792" y="2276856"/>
            <a:ext cx="777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Props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36792" y="253288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ข้อมูล machine
(id, name, status, ตำแหน่ง)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36792" y="3008376"/>
            <a:ext cx="777240" cy="228600"/>
          </a:xfrm>
          <a:prstGeom prst="rect">
            <a:avLst/>
          </a:prstGeom>
          <a:solidFill>
            <a:srgbClr val="703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36792" y="3026664"/>
            <a:ext cx="777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Visual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36792" y="328269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Badge สี + ชื่อเครื่อง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36792" y="3758183"/>
            <a:ext cx="777240" cy="228600"/>
          </a:xfrm>
          <a:prstGeom prst="rect">
            <a:avLst/>
          </a:prstGeom>
          <a:solidFill>
            <a:srgbClr val="703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36792" y="3776471"/>
            <a:ext cx="777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ใช้งาน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36792" y="4032503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ถูก loop render
จาก MachineLayoutViewer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🔄  Data Flow — การทำงานของระบบ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88720"/>
            <a:ext cx="1325880" cy="100584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132588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280160"/>
            <a:ext cx="12344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👤 User
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" y="1901952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7590"/>
                </a:solidFill>
                <a:latin typeface="Calibri"/>
              </a:rPr>
              <a:t>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39" y="150876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1188720"/>
            <a:ext cx="1325880" cy="100584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83080" y="1188720"/>
            <a:ext cx="1325880" cy="54864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280160"/>
            <a:ext cx="12344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🔒 Middleware
auth.global.ts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901952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7590"/>
                </a:solidFill>
                <a:latin typeface="Calibri"/>
              </a:rPr>
              <a:t>Route 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150876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188720"/>
            <a:ext cx="1325880" cy="100584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188720"/>
            <a:ext cx="1325880" cy="54864"/>
          </a:xfrm>
          <a:prstGeom prst="rect">
            <a:avLst/>
          </a:prstGeom>
          <a:solidFill>
            <a:srgbClr val="703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280160"/>
            <a:ext cx="12344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🗺 Layout
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901952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7590"/>
                </a:solidFill>
                <a:latin typeface="Calibri"/>
              </a:rPr>
              <a:t>UI Shell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50876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1188720"/>
            <a:ext cx="1325880" cy="100584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9160" y="1188720"/>
            <a:ext cx="1325880" cy="54864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1280160"/>
            <a:ext cx="12344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📄 Page
Component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1901952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7590"/>
                </a:solidFill>
                <a:latin typeface="Calibri"/>
              </a:rPr>
              <a:t>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150876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1188720"/>
            <a:ext cx="1325880" cy="100584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1188720"/>
            <a:ext cx="132588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280160"/>
            <a:ext cx="12344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🪝 Composable
useAuth/Machines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901952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7590"/>
                </a:solidFill>
                <a:latin typeface="Calibri"/>
              </a:rPr>
              <a:t>Logic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150876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40" y="1188720"/>
            <a:ext cx="1325880" cy="100584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35240" y="1188720"/>
            <a:ext cx="1325880" cy="54864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1280160"/>
            <a:ext cx="12344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🗄 Supabase
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1901952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7590"/>
                </a:solidFill>
                <a:latin typeface="Calibri"/>
              </a:rPr>
              <a:t>Backend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B0C8"/>
                </a:solidFill>
                <a:latin typeface="Calibri"/>
              </a:rPr>
              <a:t>รายละเอียดสำคัญ: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788920"/>
            <a:ext cx="4160520" cy="86868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2788920"/>
            <a:ext cx="64008" cy="86868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" y="284378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E181C"/>
                </a:solidFill>
                <a:latin typeface="Consolas"/>
              </a:rPr>
              <a:t>auth.global.ts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" y="3118103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8"/>
                </a:solidFill>
                <a:latin typeface="Calibri"/>
              </a:rPr>
              <a:t>ตรวจสอบ session ทุกครั้ง
redirect /login ถ้าไม่ login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79" y="2788920"/>
            <a:ext cx="4160520" cy="86868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54879" y="2788920"/>
            <a:ext cx="64008" cy="868680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19471" y="284378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7A83"/>
                </a:solidFill>
                <a:latin typeface="Consolas"/>
              </a:rPr>
              <a:t>plugins/supabase.ts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19471" y="3118103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8"/>
                </a:solidFill>
                <a:latin typeface="Calibri"/>
              </a:rPr>
              <a:t>inject $supabase
เป็น global plugin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840479"/>
            <a:ext cx="4160520" cy="86868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3840479"/>
            <a:ext cx="64008" cy="86868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" y="3895343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FA8"/>
                </a:solidFill>
                <a:latin typeface="Consolas"/>
              </a:rPr>
              <a:t>useState()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" y="4169663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8"/>
                </a:solidFill>
                <a:latin typeface="Calibri"/>
              </a:rPr>
              <a:t>shared state ระหว่าง
composables และ components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79" y="3840479"/>
            <a:ext cx="4160520" cy="86868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54879" y="3840479"/>
            <a:ext cx="64008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9471" y="3895343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onsolas"/>
              </a:rPr>
              <a:t>localStorage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19471" y="4169663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8"/>
                </a:solidFill>
                <a:latin typeface="Calibri"/>
              </a:rPr>
              <a:t>เก็บ session data
ระหว่าง page refresh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🗄  Supabase Tables — ฐานข้อมูล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621792"/>
            <a:ext cx="210312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2103120" cy="54864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7132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FA8"/>
                </a:solidFill>
                <a:latin typeface="Consolas"/>
              </a:rPr>
              <a:t>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0058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เก็บข้อมูล user
ทุกคนในระบบ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99032"/>
            <a:ext cx="1920240" cy="36576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" y="1527048"/>
            <a:ext cx="54864" cy="109728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" y="1746504"/>
            <a:ext cx="54864" cy="109728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0992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full_name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" y="1965960"/>
            <a:ext cx="54864" cy="109728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92938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email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" y="2185415"/>
            <a:ext cx="54864" cy="109728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48839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password_hash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" y="2404872"/>
            <a:ext cx="54864" cy="109728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6829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active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249631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+ 2 more fields...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41448" y="621792"/>
            <a:ext cx="210312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41448" y="621792"/>
            <a:ext cx="2103120" cy="54864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51176" y="7132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7A83"/>
                </a:solidFill>
                <a:latin typeface="Consolas"/>
              </a:rPr>
              <a:t>machines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51176" y="10058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ข้อมูลเครื่องจักร
ทั้งหมด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32888" y="1399032"/>
            <a:ext cx="1920240" cy="36576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51176" y="1527048"/>
            <a:ext cx="54864" cy="10972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0048" y="149047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51176" y="1746504"/>
            <a:ext cx="54864" cy="10972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70048" y="170992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name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51176" y="1965960"/>
            <a:ext cx="54864" cy="10972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70048" y="192938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type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51176" y="2185415"/>
            <a:ext cx="54864" cy="10972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70048" y="2148839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51176" y="2404872"/>
            <a:ext cx="54864" cy="10972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70048" y="236829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51176" y="249631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+ 1 more fields...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54296" y="621792"/>
            <a:ext cx="210312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654296" y="621792"/>
            <a:ext cx="2103120" cy="54864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64024" y="7132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E181C"/>
                </a:solidFill>
                <a:latin typeface="Consolas"/>
              </a:rPr>
              <a:t>machine_alarm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4024" y="10058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บันทึก alarm
ของเครื่องจักร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45736" y="1399032"/>
            <a:ext cx="1920240" cy="36576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64024" y="1527048"/>
            <a:ext cx="54864" cy="10972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82896" y="149047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id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64024" y="1746504"/>
            <a:ext cx="54864" cy="10972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82896" y="170992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machine_id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64024" y="1965960"/>
            <a:ext cx="54864" cy="10972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82896" y="192938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alarm_name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64024" y="2185415"/>
            <a:ext cx="54864" cy="10972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82896" y="2148839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alarm_code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64024" y="2404872"/>
            <a:ext cx="54864" cy="10972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82896" y="236829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start_time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64024" y="249631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+ 1 more fields...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67144" y="621792"/>
            <a:ext cx="210312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67144" y="621792"/>
            <a:ext cx="2103120" cy="54864"/>
          </a:xfrm>
          <a:prstGeom prst="rect">
            <a:avLst/>
          </a:prstGeom>
          <a:solidFill>
            <a:srgbClr val="703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76872" y="7132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3BBC"/>
                </a:solidFill>
                <a:latin typeface="Consolas"/>
              </a:rPr>
              <a:t>machine_status_log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76872" y="10058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Log สถานะ
เครื่องจักร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58583" y="1399032"/>
            <a:ext cx="1920240" cy="36576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976872" y="1527048"/>
            <a:ext cx="54864" cy="109728"/>
          </a:xfrm>
          <a:prstGeom prst="rect">
            <a:avLst/>
          </a:prstGeom>
          <a:solidFill>
            <a:srgbClr val="703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95744" y="149047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id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76872" y="1746504"/>
            <a:ext cx="54864" cy="109728"/>
          </a:xfrm>
          <a:prstGeom prst="rect">
            <a:avLst/>
          </a:prstGeom>
          <a:solidFill>
            <a:srgbClr val="703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95744" y="170992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machine_id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76872" y="1965960"/>
            <a:ext cx="54864" cy="109728"/>
          </a:xfrm>
          <a:prstGeom prst="rect">
            <a:avLst/>
          </a:prstGeom>
          <a:solidFill>
            <a:srgbClr val="703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95744" y="192938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status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76872" y="2185415"/>
            <a:ext cx="54864" cy="109728"/>
          </a:xfrm>
          <a:prstGeom prst="rect">
            <a:avLst/>
          </a:prstGeom>
          <a:solidFill>
            <a:srgbClr val="703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95744" y="2148839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timestamp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76872" y="2404872"/>
            <a:ext cx="54864" cy="109728"/>
          </a:xfrm>
          <a:prstGeom prst="rect">
            <a:avLst/>
          </a:prstGeom>
          <a:solidFill>
            <a:srgbClr val="703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95744" y="236829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note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" y="2834640"/>
            <a:ext cx="210312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28600" y="2834640"/>
            <a:ext cx="210312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8328" y="29260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onsolas"/>
              </a:rPr>
              <a:t>machine_layout_point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8328" y="32186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ตำแหน่ง machine
บน layout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3611880"/>
            <a:ext cx="1920240" cy="36576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38328" y="3739896"/>
            <a:ext cx="54864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37033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id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38328" y="3959352"/>
            <a:ext cx="54864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392277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machine_id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38328" y="4178807"/>
            <a:ext cx="54864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4142231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38328" y="4398264"/>
            <a:ext cx="54864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436168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38328" y="4617720"/>
            <a:ext cx="54864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458114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created_at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441448" y="2834640"/>
            <a:ext cx="210312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441448" y="2834640"/>
            <a:ext cx="21031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551176" y="29260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onsolas"/>
              </a:rPr>
              <a:t>machine_oee_daily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51176" y="32186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ข้อมูล OEE
รายวัน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532888" y="3611880"/>
            <a:ext cx="1920240" cy="36576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551176" y="3739896"/>
            <a:ext cx="54864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70048" y="37033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id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551176" y="3959352"/>
            <a:ext cx="54864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70048" y="392277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machine_id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551176" y="4178807"/>
            <a:ext cx="54864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670048" y="4142231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date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551176" y="4398264"/>
            <a:ext cx="54864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670048" y="436168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availability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551176" y="4617720"/>
            <a:ext cx="54864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70048" y="458114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performance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551176" y="4709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+ 2 more fields...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54296" y="2834640"/>
            <a:ext cx="210312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654296" y="2834640"/>
            <a:ext cx="210312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64024" y="29260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onsolas"/>
              </a:rPr>
              <a:t>production_daily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764024" y="32186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ยอดผลิตและ
ประสิทธิภาพรวม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745736" y="3611880"/>
            <a:ext cx="1920240" cy="36576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764024" y="3739896"/>
            <a:ext cx="54864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882896" y="37033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id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764024" y="3959352"/>
            <a:ext cx="54864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882896" y="392277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total_production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764024" y="4178807"/>
            <a:ext cx="54864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882896" y="4142231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efficiency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764024" y="4398264"/>
            <a:ext cx="54864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882896" y="436168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created_at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867144" y="2834640"/>
            <a:ext cx="210312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867144" y="2834640"/>
            <a:ext cx="2103120" cy="54864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976872" y="29260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7A83"/>
                </a:solidFill>
                <a:latin typeface="Consolas"/>
              </a:rPr>
              <a:t>machine_status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976872" y="32186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สถานะ real-time
ของ station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958583" y="3611880"/>
            <a:ext cx="1920240" cy="36576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976872" y="3739896"/>
            <a:ext cx="54864" cy="10972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095744" y="37033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id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976872" y="3959352"/>
            <a:ext cx="54864" cy="10972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095744" y="392277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machine_id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976872" y="4178807"/>
            <a:ext cx="54864" cy="10972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095744" y="4142231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line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976872" y="4398264"/>
            <a:ext cx="54864" cy="10972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095744" y="436168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station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976872" y="4617720"/>
            <a:ext cx="54864" cy="109728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095744" y="458114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nsolas"/>
              </a:rPr>
              <a:t>status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976872" y="4709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+ 2 more fields...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70848" y="73152"/>
            <a:ext cx="73152" cy="5070348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สรุปโครงสร้าง /app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353312"/>
            <a:ext cx="2743200" cy="54864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54480"/>
            <a:ext cx="2560320" cy="91440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554480"/>
            <a:ext cx="64008" cy="91440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627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E181C"/>
                </a:solidFill>
                <a:latin typeface="Calibri"/>
              </a:rPr>
              <a:t>🔌  1 Entry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965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8"/>
                </a:solidFill>
                <a:latin typeface="Calibri"/>
              </a:rPr>
              <a:t>app.vue — Root component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554480"/>
            <a:ext cx="2560320" cy="91440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554480"/>
            <a:ext cx="64008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1627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🎨  1 CSS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1965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8"/>
                </a:solidFill>
                <a:latin typeface="Calibri"/>
              </a:rPr>
              <a:t>Tailwind + DaisyUI + Custom vars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554480"/>
            <a:ext cx="2560320" cy="91440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554480"/>
            <a:ext cx="64008" cy="914400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3912" y="1627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7A83"/>
                </a:solidFill>
                <a:latin typeface="Calibri"/>
              </a:rPr>
              <a:t>🔗  1 Plugin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1965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8"/>
                </a:solidFill>
                <a:latin typeface="Calibri"/>
              </a:rPr>
              <a:t>Supabase DB connection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651760"/>
            <a:ext cx="2560320" cy="91440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651760"/>
            <a:ext cx="64008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724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🪝  3 Composables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30632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8"/>
                </a:solidFill>
                <a:latin typeface="Calibri"/>
              </a:rPr>
              <a:t>useAuth, useMachines, useAdmin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651760"/>
            <a:ext cx="2560320" cy="91440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2651760"/>
            <a:ext cx="64008" cy="914400"/>
          </a:xfrm>
          <a:prstGeom prst="rect">
            <a:avLst/>
          </a:prstGeom>
          <a:solidFill>
            <a:srgbClr val="703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64992" y="2724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3BBC"/>
                </a:solidFill>
                <a:latin typeface="Calibri"/>
              </a:rPr>
              <a:t>🔒  2 Middlewares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30632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8"/>
                </a:solidFill>
                <a:latin typeface="Calibri"/>
              </a:rPr>
              <a:t>auth.global + admin guard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2651760"/>
            <a:ext cx="2560320" cy="91440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2651760"/>
            <a:ext cx="64008" cy="914400"/>
          </a:xfrm>
          <a:prstGeom prst="rect">
            <a:avLst/>
          </a:prstGeom>
          <a:solidFill>
            <a:srgbClr val="1D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53912" y="2724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FA8"/>
                </a:solidFill>
                <a:latin typeface="Calibri"/>
              </a:rPr>
              <a:t>🗺  2 Layouts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30632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8"/>
                </a:solidFill>
                <a:latin typeface="Calibri"/>
              </a:rPr>
              <a:t>default (public) + dashboard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749039"/>
            <a:ext cx="2560320" cy="91440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3749039"/>
            <a:ext cx="64008" cy="914400"/>
          </a:xfrm>
          <a:prstGeom prst="rect">
            <a:avLst/>
          </a:prstGeom>
          <a:solidFill>
            <a:srgbClr val="BE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38221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E181C"/>
                </a:solidFill>
                <a:latin typeface="Calibri"/>
              </a:rPr>
              <a:t>📄  10+ Pages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4160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8"/>
                </a:solidFill>
                <a:latin typeface="Calibri"/>
              </a:rPr>
              <a:t>Public + Dashboard sub-pages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3749039"/>
            <a:ext cx="2560320" cy="91440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0" y="3749039"/>
            <a:ext cx="64008" cy="914400"/>
          </a:xfrm>
          <a:prstGeom prst="rect">
            <a:avLst/>
          </a:prstGeom>
          <a:solidFill>
            <a:srgbClr val="06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64992" y="38221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7A83"/>
                </a:solidFill>
                <a:latin typeface="Calibri"/>
              </a:rPr>
              <a:t>🧩  3 Components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64992" y="4160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8"/>
                </a:solidFill>
                <a:latin typeface="Calibri"/>
              </a:rPr>
              <a:t>Alarm, Layout Viewer, Machine Node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3749039"/>
            <a:ext cx="2560320" cy="91440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89320" y="3749039"/>
            <a:ext cx="64008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53912" y="38221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🗄  8 DB Tables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53912" y="4160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8"/>
                </a:solidFill>
                <a:latin typeface="Calibri"/>
              </a:rPr>
              <a:t>Supabase backend tables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5268"/>
                </a:solidFill>
                <a:latin typeface="Calibri"/>
              </a:rPr>
              <a:t>Nawaloha Industry Company (NIC) — Tire Production Monitoring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