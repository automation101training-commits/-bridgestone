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73152"/>
            <a:ext cx="2487168" cy="50703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73152"/>
            <a:ext cx="201168" cy="507034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45720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0" y="45720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45720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45720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45720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109728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109728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09728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09728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09728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173736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760" y="173736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73736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173736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73736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2377439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2377439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2377439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2377439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2377439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301752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23760" y="301752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301752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301752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301752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0" y="365760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23760" y="365760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89520" y="365760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79" y="365760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3657600"/>
            <a:ext cx="73152" cy="73152"/>
          </a:xfrm>
          <a:prstGeom prst="rect">
            <a:avLst/>
          </a:prstGeom>
          <a:solidFill>
            <a:srgbClr val="2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100584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โครงสร้าง /app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224028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A9AC2"/>
                </a:solidFill>
                <a:latin typeface="Calibri"/>
              </a:rPr>
              <a:t>+ คำอธิบายศัพท์ทุกตัว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880360"/>
            <a:ext cx="256032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0175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C0"/>
                </a:solidFill>
                <a:latin typeface="Calibri"/>
              </a:rPr>
              <a:t>Tire Production Monitoring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349300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7090"/>
                </a:solidFill>
                <a:latin typeface="Calibri"/>
              </a:rPr>
              <a:t>Nuxt 3  ·  Vue 3  ·  TypeScript  ·  Supabase  ·  Tailwind CSS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977639"/>
            <a:ext cx="690372" cy="237744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005072"/>
            <a:ext cx="6355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Vue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57884" y="3977639"/>
            <a:ext cx="777240" cy="23774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03604" y="4005072"/>
            <a:ext cx="722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Nuxt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99716" y="3977639"/>
            <a:ext cx="1124712" cy="237744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45436" y="4005072"/>
            <a:ext cx="1069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9020" y="3977639"/>
            <a:ext cx="950976" cy="23774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34739" y="4005072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Supabase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04588" y="3977639"/>
            <a:ext cx="950976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0307" y="4005072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Tailwind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4681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F68"/>
                </a:solidFill>
                <a:latin typeface="Calibri"/>
              </a:rPr>
              <a:t>Nawaloha Industry Company (NIC)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📁  ภาพรวม — โครงสร้างโฟลเดอร์ /app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40080"/>
            <a:ext cx="40233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40080"/>
            <a:ext cx="64008" cy="429768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13232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E181C"/>
                </a:solidFill>
                <a:latin typeface="Consolas"/>
              </a:rPr>
              <a:t>📁 /app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556A82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2E"/>
                </a:solidFill>
                <a:latin typeface="Consolas"/>
              </a:rPr>
              <a:t>  ├── 📄 app.vue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2E"/>
                </a:solidFill>
                <a:latin typeface="Consolas"/>
              </a:rPr>
              <a:t>  ├── 📁 assets/css/main.css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A8"/>
                </a:solidFill>
                <a:latin typeface="Consolas"/>
              </a:rPr>
              <a:t>  ├── 📁 components/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56A82"/>
                </a:solidFill>
                <a:latin typeface="Consolas"/>
              </a:rPr>
              <a:t>  │     AlarmPopup  MachineLayoutViewer  MachineNode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A8"/>
                </a:solidFill>
                <a:latin typeface="Consolas"/>
              </a:rPr>
              <a:t>  ├── 📁 composables/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56A82"/>
                </a:solidFill>
                <a:latin typeface="Consolas"/>
              </a:rPr>
              <a:t>  │     useAdmin  useAuth  useMachines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A8"/>
                </a:solidFill>
                <a:latin typeface="Consolas"/>
              </a:rPr>
              <a:t>  ├── 📁 layouts/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56A82"/>
                </a:solidFill>
                <a:latin typeface="Consolas"/>
              </a:rPr>
              <a:t>  │     dashboard.vue  default.vue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A8"/>
                </a:solidFill>
                <a:latin typeface="Consolas"/>
              </a:rPr>
              <a:t>  ├── 📁 middleware/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56A82"/>
                </a:solidFill>
                <a:latin typeface="Consolas"/>
              </a:rPr>
              <a:t>  │     auth.global.ts  admin.ts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A8"/>
                </a:solidFill>
                <a:latin typeface="Consolas"/>
              </a:rPr>
              <a:t>  ├── 📁 pages/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56A82"/>
                </a:solidFill>
                <a:latin typeface="Consolas"/>
              </a:rPr>
              <a:t>  │     index  login  signup  home  machines  oee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56A82"/>
                </a:solidFill>
                <a:latin typeface="Consolas"/>
              </a:rPr>
              <a:t>  │     └─ dashboard/ (5 sub-pages)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2E"/>
                </a:solidFill>
                <a:latin typeface="Consolas"/>
              </a:rPr>
              <a:t>  └── 📁 plugins/supabase.ts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658368"/>
            <a:ext cx="21488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658368"/>
            <a:ext cx="214884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7498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E181C"/>
                </a:solidFill>
                <a:latin typeface="Calibri"/>
              </a:rPr>
              <a:t>📄 app.vue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04241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A82"/>
                </a:solidFill>
                <a:latin typeface="Calibri"/>
              </a:rPr>
              <a:t>Entry 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658368"/>
            <a:ext cx="21488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658368"/>
            <a:ext cx="2148840" cy="54864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7498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206"/>
                </a:solidFill>
                <a:latin typeface="Calibri"/>
              </a:rPr>
              <a:t>🎨 assets/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04241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A82"/>
                </a:solidFill>
                <a:latin typeface="Calibri"/>
              </a:rPr>
              <a:t>CSS global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728216"/>
            <a:ext cx="21488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728216"/>
            <a:ext cx="214884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18196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A8"/>
                </a:solidFill>
                <a:latin typeface="Calibri"/>
              </a:rPr>
              <a:t>🧩 components/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11226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A82"/>
                </a:solidFill>
                <a:latin typeface="Calibri"/>
              </a:rPr>
              <a:t>UI ย่อย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1728216"/>
            <a:ext cx="21488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1728216"/>
            <a:ext cx="2148840" cy="54864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0568" y="18196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873A"/>
                </a:solidFill>
                <a:latin typeface="Calibri"/>
              </a:rPr>
              <a:t>🪝 composables/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211226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A82"/>
                </a:solidFill>
                <a:latin typeface="Calibri"/>
              </a:rPr>
              <a:t>Logic ซ้ำได้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2798063"/>
            <a:ext cx="21488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2798063"/>
            <a:ext cx="2148840" cy="54864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288950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35B8"/>
                </a:solidFill>
                <a:latin typeface="Calibri"/>
              </a:rPr>
              <a:t>🗺 layouts/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182111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A82"/>
                </a:solidFill>
                <a:latin typeface="Calibri"/>
              </a:rPr>
              <a:t>โครงร่าง 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2798063"/>
            <a:ext cx="21488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0840" y="2798063"/>
            <a:ext cx="2148840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288950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7A83"/>
                </a:solidFill>
                <a:latin typeface="Calibri"/>
              </a:rPr>
              <a:t>🔒 middleware/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3182111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A82"/>
                </a:solidFill>
                <a:latin typeface="Calibri"/>
              </a:rPr>
              <a:t>Route guards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3867911"/>
            <a:ext cx="21488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3867911"/>
            <a:ext cx="214884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4568" y="395935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E181C"/>
                </a:solidFill>
                <a:latin typeface="Calibri"/>
              </a:rPr>
              <a:t>📄 pages/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425195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A82"/>
                </a:solidFill>
                <a:latin typeface="Calibri"/>
              </a:rPr>
              <a:t>หน้า 10+ หน้า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3867911"/>
            <a:ext cx="21488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20840" y="3867911"/>
            <a:ext cx="214884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0568" y="395935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A8"/>
                </a:solidFill>
                <a:latin typeface="Calibri"/>
              </a:rPr>
              <a:t>🔗 plugins/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425195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A82"/>
                </a:solidFill>
                <a:latin typeface="Calibri"/>
              </a:rPr>
              <a:t>Supabase init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📚  ศัพท์ที่ควรรู้ — Framework &amp; ภาษา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85800"/>
            <a:ext cx="283464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85800"/>
            <a:ext cx="2834640" cy="54864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685800"/>
            <a:ext cx="64008" cy="1938528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758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873A"/>
                </a:solidFill>
                <a:latin typeface="Calibri"/>
              </a:rPr>
              <a:t>Vue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16128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JavaScript framework สำหรับสร้าง UI บน browser
เขียนเป็น component-based — แต่ละส่วนของหน้าจอคือ 1 ไฟล์ .vue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84248"/>
            <a:ext cx="256032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0756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A82"/>
                </a:solidFill>
                <a:latin typeface="Calibri"/>
              </a:rPr>
              <a:t>💡 เหมือนกับ React แต่เขียนง่ายกว่า syntax ชัดเจนกว่า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685800"/>
            <a:ext cx="283464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685800"/>
            <a:ext cx="283464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685800"/>
            <a:ext cx="64008" cy="193852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758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6FA8"/>
                </a:solidFill>
                <a:latin typeface="Calibri"/>
              </a:rPr>
              <a:t>Nuxt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116128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Framework ที่ครอบ Vue 3 อีกชั้น
เพิ่มระบบ routing อัตโนมัติ, layouts, middleware, SSR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1984248"/>
            <a:ext cx="256032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20756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A82"/>
                </a:solidFill>
                <a:latin typeface="Calibri"/>
              </a:rPr>
              <a:t>💡 ชื่อไฟล์ = URL อัตโนมัติ เช่น pages/login.vue → /login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685800"/>
            <a:ext cx="283464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685800"/>
            <a:ext cx="2834640" cy="54864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685800"/>
            <a:ext cx="64008" cy="1938528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758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A35B8"/>
                </a:solidFill>
                <a:latin typeface="Calibri"/>
              </a:rPr>
              <a:t>TypeScript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16128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JavaScript + การกำหนดชนิดข้อมูล (type)
เช่น string, number, boolean — ช่วยหาบั๊กตั้งแต่เขียนโค้ด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984248"/>
            <a:ext cx="256032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20756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A82"/>
                </a:solidFill>
                <a:latin typeface="Calibri"/>
              </a:rPr>
              <a:t>💡 ไฟล์ .ts แทน .js  รองรับโดย Nuxt ตั้งแต่แรก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788920"/>
            <a:ext cx="425196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88920"/>
            <a:ext cx="42519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2788920"/>
            <a:ext cx="64008" cy="19385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2862072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Tailwind CSS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264408"/>
            <a:ext cx="3977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Library CSS แบบ utility-first
ใช้ class ชื่อสั้นๆ เช่น bg-red-600, flex, rounded-xl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087368"/>
            <a:ext cx="397764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178808"/>
            <a:ext cx="3977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A82"/>
                </a:solidFill>
                <a:latin typeface="Calibri"/>
              </a:rPr>
              <a:t>💡 ไม่ต้องเขียน CSS เอง ใช้ class ประกอบกัน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2788920"/>
            <a:ext cx="425196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09160" y="2788920"/>
            <a:ext cx="4251960" cy="54864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9160" y="2788920"/>
            <a:ext cx="64008" cy="1938528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73752" y="2862072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206"/>
                </a:solidFill>
                <a:latin typeface="Calibri"/>
              </a:rPr>
              <a:t>DaisyUI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3752" y="3264408"/>
            <a:ext cx="3977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Plugin ของ Tailwind ที่เพิ่ม component สำเร็จรูป
เช่น btn, modal, toast, alert, badge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4087368"/>
            <a:ext cx="397764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73752" y="4178808"/>
            <a:ext cx="3977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A82"/>
                </a:solidFill>
                <a:latin typeface="Calibri"/>
              </a:rPr>
              <a:t>💡 เรียกใช้ด้วย class เดียว เช่น class="btn btn-primary"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🗄  ศัพท์ที่ควรรู้ — Supabase &amp;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411480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64008" cy="425196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4114800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7A83"/>
                </a:solidFill>
                <a:latin typeface="Calibri"/>
              </a:rPr>
              <a:t>Supabase คืออะไร?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15568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บริการ Backend as a Service (BaaS)
ใช้ PostgreSQL เป็น database
มา API พร้อมใช้ทันที โดยไม่ต้องเขียน backend เอง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93392"/>
            <a:ext cx="3749039" cy="384048"/>
          </a:xfrm>
          <a:prstGeom prst="rect">
            <a:avLst/>
          </a:prstGeom>
          <a:solidFill>
            <a:srgbClr val="F0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4825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A83"/>
                </a:solidFill>
                <a:latin typeface="Calibri"/>
              </a:rPr>
              <a:t>🗄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0482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PostgreSQL + REST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32304"/>
            <a:ext cx="3749039" cy="384048"/>
          </a:xfrm>
          <a:prstGeom prst="rect">
            <a:avLst/>
          </a:prstGeom>
          <a:solidFill>
            <a:srgbClr val="F0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8716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A83"/>
                </a:solidFill>
                <a:latin typeface="Calibri"/>
              </a:rPr>
              <a:t>🔐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871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Login/Signup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71216"/>
            <a:ext cx="3749039" cy="384048"/>
          </a:xfrm>
          <a:prstGeom prst="rect">
            <a:avLst/>
          </a:prstGeom>
          <a:solidFill>
            <a:srgbClr val="F0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9260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A83"/>
                </a:solidFill>
                <a:latin typeface="Calibri"/>
              </a:rPr>
              <a:t>⚡ Realtime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9260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ข้อมูล update ทันที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10128"/>
            <a:ext cx="3749039" cy="384048"/>
          </a:xfrm>
          <a:prstGeom prst="rect">
            <a:avLst/>
          </a:prstGeom>
          <a:solidFill>
            <a:srgbClr val="F0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649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A83"/>
                </a:solidFill>
                <a:latin typeface="Calibri"/>
              </a:rPr>
              <a:t>📦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3649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เก็บไฟล์/รูปภาพ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49039"/>
            <a:ext cx="3749039" cy="384048"/>
          </a:xfrm>
          <a:prstGeom prst="rect">
            <a:avLst/>
          </a:prstGeom>
          <a:solidFill>
            <a:srgbClr val="F0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0390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A83"/>
                </a:solidFill>
                <a:latin typeface="Calibri"/>
              </a:rPr>
              <a:t>🔑 Row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80390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กำหนดสิทธิ์รายแถว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658368"/>
            <a:ext cx="438912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658368"/>
            <a:ext cx="64008" cy="425196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658368"/>
            <a:ext cx="438912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7315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A8"/>
                </a:solidFill>
                <a:latin typeface="Calibri"/>
              </a:rPr>
              <a:t>ศัพท์ที่ใช้ใน code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1170432"/>
            <a:ext cx="4114800" cy="5943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120700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D6FA8"/>
                </a:solidFill>
                <a:latin typeface="Consolas"/>
              </a:rPr>
              <a:t>$supabase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147218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ชื่อที่ inject ผ่าน plugin
ใช้เรียก database ได้ทันที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1837943"/>
            <a:ext cx="4114800" cy="5943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87451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7A83"/>
                </a:solidFill>
                <a:latin typeface="Consolas"/>
              </a:rPr>
              <a:t>.from("users").select("*")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213969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query ข้อมูลจาก table
= SELECT * FROM users ใน 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45152" y="2505456"/>
            <a:ext cx="4114800" cy="5943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6592" y="25420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873A"/>
                </a:solidFill>
                <a:latin typeface="Consolas"/>
              </a:rPr>
              <a:t>.maybeSingle()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280720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คาดว่าได้ 0 หรือ 1 แถว
ถ้าไม่เจอคืน null แทน error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45152" y="3172968"/>
            <a:ext cx="4114800" cy="5943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36592" y="32095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206"/>
                </a:solidFill>
                <a:latin typeface="Consolas"/>
              </a:rPr>
              <a:t>localStorage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36592" y="3474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พื้นที่เก็บข้อมูลใน browser
ยังอยู่แม้ปิดแท็บแล้วเปิดใหม่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45152" y="3840480"/>
            <a:ext cx="4114800" cy="5943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387705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A35B8"/>
                </a:solidFill>
                <a:latin typeface="Calibri"/>
              </a:rPr>
              <a:t>OEE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36592" y="414223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Overall Equipment Effectiveness
Availability × Performance × Quality (%)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⚡  Entry Point, Assets &amp; Plugin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283464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64008" cy="217627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658368"/>
            <a:ext cx="923544" cy="219456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76656"/>
            <a:ext cx="8321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1C"/>
                </a:solidFill>
                <a:latin typeface="Calibri"/>
              </a:rPr>
              <a:t>📄 app.vue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98448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Root component ของ Nuxt 3
• ครอบด้วย &lt;NuxtLayout&gt;
• Render &lt;NuxtPage&gt; ตาม URL
• จุดเริ่มต้นของ component tree ทั้งหมด
• Layout ถูกเลือกผ่าน definePageMeta()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880360"/>
            <a:ext cx="2834640" cy="548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90779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9C0FF"/>
                </a:solidFill>
                <a:latin typeface="Consolas"/>
              </a:rPr>
              <a:t>&lt;NuxtLayout&gt;
  &lt;NuxtPage /&gt;
&lt;/NuxtLayout&gt;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658368"/>
            <a:ext cx="278892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658368"/>
            <a:ext cx="64008" cy="2176272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658368"/>
            <a:ext cx="923544" cy="219456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676656"/>
            <a:ext cx="8321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914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206"/>
                </a:solidFill>
                <a:latin typeface="Calibri"/>
              </a:rPr>
              <a:t>🎨 assets/css/main.css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1298448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206"/>
                </a:solidFill>
                <a:latin typeface="Consolas"/>
              </a:rPr>
              <a:t>Noto Sans Thai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129844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A82"/>
                </a:solidFill>
                <a:latin typeface="Calibri"/>
              </a:rPr>
              <a:t>font หลัก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1449324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206"/>
                </a:solidFill>
                <a:latin typeface="Consolas"/>
              </a:rPr>
              <a:t>@import tailwind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144932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A82"/>
                </a:solidFill>
                <a:latin typeface="Calibri"/>
              </a:rPr>
              <a:t>Utility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160020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206"/>
                </a:solidFill>
                <a:latin typeface="Consolas"/>
              </a:rPr>
              <a:t>@plugin daisyui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16002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A82"/>
                </a:solidFill>
                <a:latin typeface="Calibri"/>
              </a:rPr>
              <a:t>Components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1751076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206"/>
                </a:solidFill>
                <a:latin typeface="Consolas"/>
              </a:rPr>
              <a:t>CSS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751076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A82"/>
                </a:solidFill>
                <a:latin typeface="Calibri"/>
              </a:rPr>
              <a:t>custom props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190195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206"/>
                </a:solidFill>
                <a:latin typeface="Consolas"/>
              </a:rPr>
              <a:t>.status-dot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190195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A82"/>
                </a:solidFill>
                <a:latin typeface="Calibri"/>
              </a:rPr>
              <a:t>animated dot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052828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206"/>
                </a:solidFill>
                <a:latin typeface="Consolas"/>
              </a:rPr>
              <a:t>.bg-gradient-blue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0528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A82"/>
                </a:solidFill>
                <a:latin typeface="Calibri"/>
              </a:rPr>
              <a:t>gradient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658368"/>
            <a:ext cx="26974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658368"/>
            <a:ext cx="64008" cy="2176272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658368"/>
            <a:ext cx="923544" cy="219456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676656"/>
            <a:ext cx="8321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914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7A83"/>
                </a:solidFill>
                <a:latin typeface="Calibri"/>
              </a:rPr>
              <a:t>🔗 plugins/supabase.ts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29844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สร้าง Supabase client ครั้งเดียวตอนเริ่มแอป
Inject ให้ใช้งานผ่านชื่อ $supabase
ทั่วทั้ง application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993392"/>
            <a:ext cx="2514600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2029968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9C0FF"/>
                </a:solidFill>
                <a:latin typeface="Consolas"/>
              </a:rPr>
              <a:t>const { $supabase }
  = useNuxtApp()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520440"/>
            <a:ext cx="8686800" cy="5486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3630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ศัพท์สำคัญในส่วนนี้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3950208"/>
            <a:ext cx="2057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" y="3950208"/>
            <a:ext cx="2057400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404164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A83"/>
                </a:solidFill>
                <a:latin typeface="Consolas"/>
              </a:rPr>
              <a:t>Plugin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432511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code รันครั้งเดียวตอนเริ่มแอป inject ของ global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23160" y="3950208"/>
            <a:ext cx="2057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23160" y="3950208"/>
            <a:ext cx="205740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14600" y="404164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A8"/>
                </a:solidFill>
                <a:latin typeface="Consolas"/>
              </a:rPr>
              <a:t>$supabase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432511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ชื่อ Supabase client ที่ inject ไว้ใช้ทั่วแอป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90288" y="3950208"/>
            <a:ext cx="2057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90288" y="3950208"/>
            <a:ext cx="2057400" cy="54864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81728" y="404164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5B8"/>
                </a:solidFill>
                <a:latin typeface="Consolas"/>
              </a:rPr>
              <a:t>useNuxtApp()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81728" y="432511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ดึง instance ของแอป Nuxt เพื่อเข้าถึง plugin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57416" y="3950208"/>
            <a:ext cx="2057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57416" y="3950208"/>
            <a:ext cx="2057400" cy="54864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04164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873A"/>
                </a:solidFill>
                <a:latin typeface="Consolas"/>
              </a:rPr>
              <a:t>useRuntimeConfig()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48856" y="432511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อ่าน API keys และ config จาก nuxt.config.ts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🪝  Composables — Logic ที่ใช้ซ้ำได้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297180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64008" cy="4251960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658368"/>
            <a:ext cx="758952" cy="219456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76656"/>
            <a:ext cx="667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873A"/>
                </a:solidFill>
                <a:latin typeface="Calibri"/>
              </a:rPr>
              <a:t>Composable คืออะไร?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2588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ฟังก์ชัน JavaScript ที่:
• ชื่อขึ้นต้นด้วย use เสมอ
• มี reactive state ข้างใน
• นำไปใช้ซ้ำในหลาย component ได้
• แยก logic ออกจาก UI template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78608"/>
            <a:ext cx="278892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51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Pattern ที่ใช้ในโปรเจกต์นี้: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971800"/>
            <a:ext cx="2560320" cy="347472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0266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E181C"/>
                </a:solidFill>
                <a:latin typeface="Consolas"/>
              </a:rPr>
              <a:t>useAuth.ts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383280"/>
            <a:ext cx="2560320" cy="347472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4381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A8"/>
                </a:solidFill>
                <a:latin typeface="Consolas"/>
              </a:rPr>
              <a:t>useMachines.ts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94760"/>
            <a:ext cx="2560320" cy="347472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8496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873A"/>
                </a:solidFill>
                <a:latin typeface="Consolas"/>
              </a:rPr>
              <a:t>useAdmin.ts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658368"/>
            <a:ext cx="553212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658368"/>
            <a:ext cx="64008" cy="425196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20440" y="658368"/>
            <a:ext cx="1005839" cy="219456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4448" y="676656"/>
            <a:ext cx="9143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useAuth.ts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9326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1C"/>
                </a:solidFill>
                <a:latin typeface="Calibri"/>
              </a:rPr>
              <a:t>จัดการ Authentication ทั้งหมด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12801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State: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1481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A82"/>
                </a:solidFill>
                <a:latin typeface="Consolas"/>
              </a:rPr>
              <a:t>user, session  (useState — แชร์ค่าได้ทั่วแอป)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1810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Functions: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084831"/>
            <a:ext cx="5212080" cy="402336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5887" y="21214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E181C"/>
                </a:solidFill>
                <a:latin typeface="Consolas"/>
              </a:rPr>
              <a:t>init()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5887" y="2304287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โหลด session จาก localStorage เมื่อเปิดแอป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2542032"/>
            <a:ext cx="5212080" cy="402336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5887" y="25786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E181C"/>
                </a:solidFill>
                <a:latin typeface="Consolas"/>
              </a:rPr>
              <a:t>getSession()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7" y="2761487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คืนค่า session ปัจจุบัน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2999232"/>
            <a:ext cx="5212080" cy="402336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5887" y="30358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E181C"/>
                </a:solidFill>
                <a:latin typeface="Consolas"/>
              </a:rPr>
              <a:t>signIn(email, password)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5887" y="3218687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ตรวจสอบกับ Supabase · บันทึก session ลง localStorage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3456432"/>
            <a:ext cx="5212080" cy="402336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75887" y="34930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E181C"/>
                </a:solidFill>
                <a:latin typeface="Consolas"/>
              </a:rPr>
              <a:t>signUp(email, pwd, name)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75887" y="3675887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สร้าง user ใหม่ (active: false = รอ Admin อนุมัติ)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3913631"/>
            <a:ext cx="5212080" cy="402336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5887" y="3950207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E181C"/>
                </a:solidFill>
                <a:latin typeface="Consolas"/>
              </a:rPr>
              <a:t>signOut()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75887" y="4133087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ล้าง session ทั้ง state และ localStorage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🪝  useMachines, useAdmin + ศัพท์ Vue Reactivity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274320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64008" cy="306324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658368"/>
            <a:ext cx="1335024" cy="219456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76656"/>
            <a:ext cx="1243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useMachines.ts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326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6FA8"/>
                </a:solidFill>
                <a:latin typeface="Calibri"/>
              </a:rPr>
              <a:t>ดึงข้อมูลเครื่องจักรจาก Supabase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D6FA8"/>
                </a:solidFill>
                <a:latin typeface="Consolas"/>
              </a:rPr>
              <a:t>getMachines()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51790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รายชื่อเครื่องจักรทั้งหมด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75564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D6FA8"/>
                </a:solidFill>
                <a:latin typeface="Consolas"/>
              </a:rPr>
              <a:t>getMachineLayoutPoints()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7510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ตำแหน่ง dot บน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21284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D6FA8"/>
                </a:solidFill>
                <a:latin typeface="Consolas"/>
              </a:rPr>
              <a:t>getMachineAlarms(id?, act?)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43230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alarm — กรอง active 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67004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D6FA8"/>
                </a:solidFill>
                <a:latin typeface="Consolas"/>
              </a:rPr>
              <a:t>getMachineStatusLog(id,n)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88950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log สถานะ n รายการล่าสุด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12724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D6FA8"/>
                </a:solidFill>
                <a:latin typeface="Consolas"/>
              </a:rPr>
              <a:t>getMachineOEE(id, days)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34670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ข้อมูล OEE รายวัน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658368"/>
            <a:ext cx="265176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4680" y="658368"/>
            <a:ext cx="64008" cy="3063240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658368"/>
            <a:ext cx="1088136" cy="219456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676656"/>
            <a:ext cx="996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useAdmin.ts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9326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873A"/>
                </a:solidFill>
                <a:latin typeface="Calibri"/>
              </a:rPr>
              <a:t>ตรวจสอบสิทธิ์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129844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isAdmin (computed)
ตรวจ role ว่าเป็น
admin / superadmin / 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02996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refreshAdminState()
เรียก init() แล้วคืนค่า isAdmin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2633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Roles ที่มีสิทธิ์: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2944368"/>
            <a:ext cx="690372" cy="23774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79" y="2971800"/>
            <a:ext cx="6355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37660" y="2944368"/>
            <a:ext cx="1124712" cy="23774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83380" y="2971800"/>
            <a:ext cx="1069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superadmin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72100" y="2944368"/>
            <a:ext cx="690372" cy="237744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7820" y="2971800"/>
            <a:ext cx="6355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658368"/>
            <a:ext cx="2926080" cy="30632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89320" y="658368"/>
            <a:ext cx="64008" cy="3063240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658368"/>
            <a:ext cx="758952" cy="219456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0488" y="676656"/>
            <a:ext cx="667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932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35B8"/>
                </a:solidFill>
                <a:latin typeface="Calibri"/>
              </a:rPr>
              <a:t>Vue Reactivity ศัพท์สำคัญ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1325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5B8"/>
                </a:solidFill>
                <a:latin typeface="Consolas"/>
              </a:rPr>
              <a:t>ref()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15544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สร้าง reactive variable
ถ้าค่าเปลี่ยน UI อัปเดตอัตโนมัติ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768" y="18013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5B8"/>
                </a:solidFill>
                <a:latin typeface="Consolas"/>
              </a:rPr>
              <a:t>computed()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2029967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ค่าที่คำนวณจาก state อื่น
อัปเดตอัตโนมัติเมื่อ source เปลี่ยน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4768" y="22768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5B8"/>
                </a:solidFill>
                <a:latin typeface="Consolas"/>
              </a:rPr>
              <a:t>useState()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50545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shared state ข้ามทุก component
เฉพาะ Nuxt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27523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5B8"/>
                </a:solidFill>
                <a:latin typeface="Consolas"/>
              </a:rPr>
              <a:t>onMounted()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298094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รันเมื่อ component แสดงผลแล้ว
เหมาะสำหรับเรียก API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3822191"/>
            <a:ext cx="8686800" cy="5486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3931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ศัพท์ Nuxt เพิ่มเติม: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" y="4224528"/>
            <a:ext cx="2084831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6032" y="4224528"/>
            <a:ext cx="2084831" cy="4572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43068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D6FA8"/>
                </a:solidFill>
                <a:latin typeface="Consolas"/>
              </a:rPr>
              <a:t>definePageMeta({})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" y="455371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กำหนด layout/middleware ของหน้านั้น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23160" y="4224528"/>
            <a:ext cx="2084831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423160" y="4224528"/>
            <a:ext cx="2084831" cy="4572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14600" y="43068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7A83"/>
                </a:solidFill>
                <a:latin typeface="Consolas"/>
              </a:rPr>
              <a:t>navigateTo(path)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14600" y="455371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redirect ไปหน้าอื่น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90288" y="4224528"/>
            <a:ext cx="2084831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90288" y="4224528"/>
            <a:ext cx="2084831" cy="45720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81728" y="43068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873A"/>
                </a:solidFill>
                <a:latin typeface="Consolas"/>
              </a:rPr>
              <a:t>useHead({})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81728" y="455371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ตั้งค่า &lt;title&gt; ของหน้า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57416" y="4224528"/>
            <a:ext cx="2084831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757416" y="4224528"/>
            <a:ext cx="2084831" cy="45720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48856" y="43068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A35B8"/>
                </a:solidFill>
                <a:latin typeface="Consolas"/>
              </a:rPr>
              <a:t>import.meta.server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48856" y="455371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ตรวจว่ารันอยู่ฝั่ง server หรือ browser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🔒  Middleware — Route Guards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8686800" cy="53035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64008" cy="530352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A8"/>
                </a:solidFill>
                <a:latin typeface="Calibri"/>
              </a:rPr>
              <a:t>Middleware คืออะไร?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41832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code ที่รันก่อน render หน้า  ใช้ตรวจสอบ session และกำหนด redirect  —  เหมือน "ยาม" ที่คอยดูว่าใครมีสิทธิ์เข้าหรือเปล่า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98448"/>
            <a:ext cx="4297680" cy="3456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98448"/>
            <a:ext cx="64008" cy="345643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E181C"/>
                </a:solidFill>
                <a:latin typeface="Calibri"/>
              </a:rPr>
              <a:t>🔐 auth.global.ts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37360"/>
            <a:ext cx="2253996" cy="237744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64792"/>
            <a:ext cx="21991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E181C"/>
                </a:solidFill>
                <a:latin typeface="Calibri"/>
              </a:rPr>
              <a:t>GLOBAL — ทำงานทุก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0299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A82"/>
                </a:solidFill>
                <a:latin typeface="Calibri"/>
              </a:rPr>
              <a:t>ทำงานอัตโนมัติทุกครั้งที่ navigate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solidFill>
            <a:srgbClr val="55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774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3774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ข้าม middleware บน Server side (import.meta.server)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889504"/>
            <a:ext cx="274320" cy="27432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90779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9077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เรียก getSession() เพื่อดึง session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419856"/>
            <a:ext cx="274320" cy="27432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43814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43814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ไม่มี session + ไม่ใช่ /login  →  redirect ไป /login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950208"/>
            <a:ext cx="274320" cy="274320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9684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96849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มี session + พยายามเข้า /login  →  redirect ไป /home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298448"/>
            <a:ext cx="4160520" cy="3456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1298448"/>
            <a:ext cx="64008" cy="3456432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13716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7A83"/>
                </a:solidFill>
                <a:latin typeface="Calibri"/>
              </a:rPr>
              <a:t>🛡 admin.ts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1737360"/>
            <a:ext cx="2167128" cy="237744"/>
          </a:xfrm>
          <a:prstGeom prst="rect">
            <a:avLst/>
          </a:prstGeom>
          <a:solidFill>
            <a:srgbClr val="DC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1764792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7A83"/>
                </a:solidFill>
                <a:latin typeface="Calibri"/>
              </a:rPr>
              <a:t>NAMED — เรียกตาม 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20299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A82"/>
                </a:solidFill>
                <a:latin typeface="Calibri"/>
              </a:rPr>
              <a:t>ใช้กับหน้าที่ต้องการสิทธิ์ admin เท่านั้น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235915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ตั้งค่าใน page: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633472"/>
            <a:ext cx="3840480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56048" y="2670048"/>
            <a:ext cx="3611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9C0FF"/>
                </a:solidFill>
                <a:latin typeface="Consolas"/>
              </a:rPr>
              <a:t>definePageMeta({
  middleware: ["admin"]
})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3401568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Logic:
เรียก refreshAdminState()
ถ้า isAdmin = false → redirect /my-courses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818888"/>
            <a:ext cx="8686800" cy="5486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4901184"/>
            <a:ext cx="2057400" cy="201168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919472"/>
            <a:ext cx="1938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/login ✓ Public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4901184"/>
            <a:ext cx="2057400" cy="20116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87168" y="4919472"/>
            <a:ext cx="1938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/home 🔒 Auth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90288" y="4901184"/>
            <a:ext cx="2057400" cy="201168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54296" y="4919472"/>
            <a:ext cx="1938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/dashboard/* 🔒 Auth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57416" y="4901184"/>
            <a:ext cx="2057400" cy="20116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21424" y="4919472"/>
            <a:ext cx="1938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/dashboard/settings 🛡 Admin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🗺  Layouts — โครงร่าง UI หลัก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8686800" cy="47548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64008" cy="475488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7040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35B8"/>
                </a:solidFill>
                <a:latin typeface="Calibri"/>
              </a:rPr>
              <a:t>Layout คืออะไร?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052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โครงร่าง UI ที่แชร์ข้ามหลายหน้า เช่น sidebar, header, footer — หน้าแต่ละหน้าจะ inject ตัวเองเข้าไปใน &lt;slot /&gt; ของ layout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4251960" cy="36758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4251960" cy="54864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234440"/>
            <a:ext cx="64008" cy="3675887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307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35B8"/>
                </a:solidFill>
                <a:latin typeface="Calibri"/>
              </a:rPr>
              <a:t>default.vue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645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A82"/>
                </a:solidFill>
                <a:latin typeface="Calibri"/>
              </a:rPr>
              <a:t>หน้าสาธารณะ (marketing / landing)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38528"/>
            <a:ext cx="3840480" cy="384048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93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Header (fixed top)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59152"/>
            <a:ext cx="3840480" cy="12070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A82"/>
                </a:solidFill>
                <a:latin typeface="Calibri"/>
              </a:rPr>
              <a:t>&lt;slot /&gt;  (page content)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02736"/>
            <a:ext cx="3840480" cy="34747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484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Footer (red bar)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400507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• Fixed header + logo + nav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17880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• Navbar: ผลิตภัณฑ์, คอร์สอบรม, ติดต่อเรา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435254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• Login/Logout button ตรวจ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45262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• Footer สีแดง + links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470001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• Font: Kanit (Google Fonts)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234440"/>
            <a:ext cx="4251960" cy="36758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425196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1234440"/>
            <a:ext cx="64008" cy="3675887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1307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A8"/>
                </a:solidFill>
                <a:latin typeface="Calibri"/>
              </a:rPr>
              <a:t>dashboard.vue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1645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A82"/>
                </a:solidFill>
                <a:latin typeface="Calibri"/>
              </a:rPr>
              <a:t>Monitoring app (หลัง login)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2040" y="1938528"/>
            <a:ext cx="731520" cy="2029968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0328" y="2743200"/>
            <a:ext cx="694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Sidebar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1938528"/>
            <a:ext cx="306324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199339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A82"/>
                </a:solidFill>
                <a:latin typeface="Calibri"/>
              </a:rPr>
              <a:t>Top Bar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2322576"/>
            <a:ext cx="306324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3017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A82"/>
                </a:solidFill>
                <a:latin typeface="Calibri"/>
              </a:rPr>
              <a:t>&lt;slot /&gt;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400507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• Fixed sidebar (w-48) สีขาว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64608" y="417880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• Nav: Dashboard, Layout Line, Overview, Air Compressor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4608" y="435254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• Settings + Logout ด้านล่าง sidebar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4608" y="452628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• Search bar + avatar display ด้านบน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4608" y="470001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• แสดงชื่อ user และ role (Admin/User)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64608" y="487375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• Font: Kanit (Google Fonts)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📄  Pages — หน้าสาธารณะ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420624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4206240" cy="54864"/>
          </a:xfrm>
          <a:prstGeom prst="rect">
            <a:avLst/>
          </a:prstGeom>
          <a:solidFill>
            <a:srgbClr val="55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64008" cy="2084831"/>
          </a:xfrm>
          <a:prstGeom prst="rect">
            <a:avLst/>
          </a:prstGeom>
          <a:solidFill>
            <a:srgbClr val="55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749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A82"/>
                </a:solidFill>
                <a:latin typeface="Calibri"/>
              </a:rPr>
              <a:t>index.vue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768096"/>
            <a:ext cx="640080" cy="237744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795528"/>
            <a:ext cx="585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56A82"/>
                </a:solidFill>
                <a:latin typeface="Calibri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1133856"/>
            <a:ext cx="38404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Redirect อัตโนมัติ
ไปยัง /login ทันที
ไม่มี UI — เป็นแค่
จุด entry ของแอป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658368"/>
            <a:ext cx="420624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658368"/>
            <a:ext cx="420624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658368"/>
            <a:ext cx="64008" cy="2084831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749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1C"/>
                </a:solidFill>
                <a:latin typeface="Calibri"/>
              </a:rPr>
              <a:t>login.vue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768096"/>
            <a:ext cx="777240" cy="237744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795528"/>
            <a:ext cx="722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56A82"/>
                </a:solidFill>
                <a:latin typeface="Calibri"/>
              </a:rPr>
              <a:t>/login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1133856"/>
            <a:ext cx="38404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หน้า Login
• Layout: ปิด layout (layout: false)
• พื้นหลังสีฟ้า-เขียว
• Form username + password
• แสดง error ถ้า login ไม่ผ่าน
• Redirect ไป /home หลัง login สำเร็จ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898648"/>
            <a:ext cx="420624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2898648"/>
            <a:ext cx="4206240" cy="54864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2898648"/>
            <a:ext cx="64008" cy="2084831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2990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206"/>
                </a:solidFill>
                <a:latin typeface="Calibri"/>
              </a:rPr>
              <a:t>signup.vue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3008376"/>
            <a:ext cx="864108" cy="237744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79" y="3035808"/>
            <a:ext cx="8092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56A82"/>
                </a:solidFill>
                <a:latin typeface="Calibri"/>
              </a:rPr>
              <a:t>/signup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" y="3374136"/>
            <a:ext cx="38404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หน้าสมัครสมาชิก
• รับ full_name, email, password
• เรียก useAuth().signUp()
• User ใหม่ active: false
  ต้องรอ Admin อนุมัติก่อนใช้งาน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2898648"/>
            <a:ext cx="420624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2898648"/>
            <a:ext cx="420624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9160" y="2898648"/>
            <a:ext cx="64008" cy="2084831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3752" y="2990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A8"/>
                </a:solidFill>
                <a:latin typeface="Calibri"/>
              </a:rPr>
              <a:t>home.vue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3008376"/>
            <a:ext cx="690372" cy="237744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3035808"/>
            <a:ext cx="6355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56A82"/>
                </a:solidFill>
                <a:latin typeface="Calibri"/>
              </a:rPr>
              <a:t>/home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3752" y="3374136"/>
            <a:ext cx="38404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หน้าหลักหลัง login
• Sidebar มืด (dark theme)
• แสดง alarm stats:
  Total / Active / Critical / Alarms/hr
• Nav: Home, Machines, OEE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📊  Pages — Dashboard Sub-pages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40080"/>
            <a:ext cx="8686800" cy="4572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40080"/>
            <a:ext cx="64008" cy="45720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740664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ทุกหน้าใช้  definePageMeta({ layout: "dashboard", middleware: ["auth"] })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70432"/>
            <a:ext cx="42062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70432"/>
            <a:ext cx="420624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70432"/>
            <a:ext cx="64008" cy="169164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2435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6FA8"/>
                </a:solidFill>
                <a:latin typeface="Calibri"/>
              </a:rPr>
              <a:t>index.vue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243584"/>
            <a:ext cx="1124712" cy="237744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79" y="1271016"/>
            <a:ext cx="1069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56A82"/>
                </a:solidFill>
                <a:latin typeface="Calibri"/>
              </a:rPr>
              <a:t>/dashboard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1572768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Dashboard หลัก
• Stat: Total Production, Efficiency
• Line chart: Movement Efficiency (รายชั่วโมง)
• Donut: Loss Time (Breakdown, Tool Change...)
• Bar: %EFF By Line
• ดึงจาก 4 Supabase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170432"/>
            <a:ext cx="42062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1170432"/>
            <a:ext cx="4206240" cy="54864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1170432"/>
            <a:ext cx="64008" cy="1691640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12435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35B8"/>
                </a:solidFill>
                <a:latin typeface="Calibri"/>
              </a:rPr>
              <a:t>overview.vue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1243584"/>
            <a:ext cx="1906524" cy="237744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271016"/>
            <a:ext cx="18516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56A82"/>
                </a:solidFill>
                <a:latin typeface="Calibri"/>
              </a:rPr>
              <a:t>/dashboard/overview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1572768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Overview Status
• เลือก Line (18 lines: HFW1–DB3)
• Dot สี run/warn/stop บนภาพ machine
• Auto-refresh ทุก 5 วินาที
• Hover tooltip + Modal popup
• ตาราง status station ด้านล่าง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999232"/>
            <a:ext cx="42062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2999232"/>
            <a:ext cx="4206240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2999232"/>
            <a:ext cx="64008" cy="169164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0723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7A83"/>
                </a:solidFill>
                <a:latin typeface="Calibri"/>
              </a:rPr>
              <a:t>layout-line.vue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3072384"/>
            <a:ext cx="2167128" cy="237744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79" y="3099816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56A82"/>
                </a:solidFill>
                <a:latin typeface="Calibri"/>
              </a:rPr>
              <a:t>/dashboard/layout-line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" y="3401568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Layout Line
• แสดงแผนผัง layout เครื่องจักร
• ใช้ MachineLayoutViewer component
• แสดง machine nodes บน canvas
• ข้อมูลจาก machine_layout_point 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2999232"/>
            <a:ext cx="42062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60" y="2999232"/>
            <a:ext cx="4206240" cy="54864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60" y="2999232"/>
            <a:ext cx="64008" cy="1691640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3752" y="30723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206"/>
                </a:solidFill>
                <a:latin typeface="Calibri"/>
              </a:rPr>
              <a:t>air-compressor.vue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3072384"/>
            <a:ext cx="2427732" cy="237744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099816"/>
            <a:ext cx="2372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56A82"/>
                </a:solidFill>
                <a:latin typeface="Calibri"/>
              </a:rPr>
              <a:t>/dashboard/air-compressor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3752" y="3401568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Air Compressor
• Monitor ระบบ Air Compressor
• แสดง pressure, status
• Real-time monitoring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486400"/>
            <a:ext cx="8686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5486400"/>
            <a:ext cx="868680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5486400"/>
            <a:ext cx="64008" cy="111556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55595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E181C"/>
                </a:solidFill>
                <a:latin typeface="Calibri"/>
              </a:rPr>
              <a:t>settings.vue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5559552"/>
            <a:ext cx="1906524" cy="237744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5586984"/>
            <a:ext cx="18516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56A82"/>
                </a:solidFill>
                <a:latin typeface="Calibri"/>
              </a:rPr>
              <a:t>/dashboard/settings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" y="5888736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Settings (Admin only)
• จัดการ User ทั้งหมด
• ค้นหา / เปลี่ยน role / toggle active
• ต้องการสิทธิ์ Admin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🧩  Components — UI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8686800" cy="47548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64008" cy="47548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7040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A8"/>
                </a:solidFill>
                <a:latin typeface="Calibri"/>
              </a:rPr>
              <a:t>Component คืออะไร?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052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ส่วนย่อยของ UI ที่แยกออกมาเป็นไฟล์ .vue ของตัวเอง  นำไปใช้ซ้ำในหลายหน้าได้  รับข้อมูลผ่าน Props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283464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283464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234440"/>
            <a:ext cx="64008" cy="269748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3075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E181C"/>
                </a:solidFill>
                <a:latin typeface="Calibri"/>
              </a:rPr>
              <a:t>AlarmPopup.vue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16276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A82"/>
                </a:solidFill>
                <a:latin typeface="Calibri"/>
              </a:rPr>
              <a:t>Toast notification แจ้งเตือน alarm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38528"/>
            <a:ext cx="251460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192" y="2011680"/>
            <a:ext cx="713232" cy="20116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2029968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224028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alarm: { alarm_name, alarm_code?, start_time 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" y="2487168"/>
            <a:ext cx="713232" cy="20116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505456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2715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DaisyUI toast-end + alert-error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" y="2962656"/>
            <a:ext cx="713232" cy="20116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2980944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3191256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toLocaleString th-TH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" y="3438144"/>
            <a:ext cx="713232" cy="20116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45643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ใช้งาน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" y="3666744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แสดงเมื่อมี alarm ที่ยังไม่จบ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1234440"/>
            <a:ext cx="283464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1234440"/>
            <a:ext cx="2834640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0" y="1234440"/>
            <a:ext cx="64008" cy="269748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64992" y="13075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7A83"/>
                </a:solidFill>
                <a:latin typeface="Calibri"/>
              </a:rPr>
              <a:t>MachineLayoutViewer.vue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16276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A82"/>
                </a:solidFill>
                <a:latin typeface="Calibri"/>
              </a:rPr>
              <a:t>แสดงแผนผัง layout เครื่องจักรแบบ visual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1938528"/>
            <a:ext cx="251460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64992" y="2011680"/>
            <a:ext cx="713232" cy="20116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64992" y="2029968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หน้าที่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2" y="224028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Render machine nodes บน layout canvas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64992" y="2487168"/>
            <a:ext cx="713232" cy="20116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64992" y="2505456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ใช้ใน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4992" y="2715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dashboard/layout-line.vue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4992" y="2962656"/>
            <a:ext cx="713232" cy="20116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64992" y="2980944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ข้อมูล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4992" y="3191256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machine_layout_point (x, y, machine)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64992" y="3438144"/>
            <a:ext cx="713232" cy="20116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64992" y="345643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2" y="3666744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Interactive viewer ซูม/เลื่อนได้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1234440"/>
            <a:ext cx="283464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1234440"/>
            <a:ext cx="2834640" cy="54864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1234440"/>
            <a:ext cx="64008" cy="2697480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13075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35B8"/>
                </a:solidFill>
                <a:latin typeface="Calibri"/>
              </a:rPr>
              <a:t>MachineNode.vue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16276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A82"/>
                </a:solidFill>
                <a:latin typeface="Calibri"/>
              </a:rPr>
              <a:t>แสดง node เครื่องจักร 1 ตัวบน layout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1938528"/>
            <a:ext cx="251460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36792" y="2011680"/>
            <a:ext cx="713232" cy="201168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6792" y="2029968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หน้าที่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36792" y="224028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แสดงสถานะ 1 เครื่องบน Viewer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36792" y="2487168"/>
            <a:ext cx="713232" cy="201168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36792" y="2505456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2715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machine (id, name, status, x, y)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2962656"/>
            <a:ext cx="713232" cy="201168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36792" y="2980944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Visual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792" y="3191256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Badge สี + ชื่อเครื่อง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36792" y="3438144"/>
            <a:ext cx="713232" cy="201168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36792" y="345643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ใช้งาน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36792" y="3666744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Loop render จาก MachineLayoutViewer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4023360"/>
            <a:ext cx="8686800" cy="5486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" y="41330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โครงสร้าง .vue file: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4407408"/>
            <a:ext cx="138988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28600" y="4407408"/>
            <a:ext cx="1389888" cy="45720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1752" y="4480560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873A"/>
                </a:solidFill>
                <a:latin typeface="Consolas"/>
              </a:rPr>
              <a:t>Props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1752" y="4700016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A82"/>
                </a:solidFill>
                <a:latin typeface="Calibri"/>
              </a:rPr>
              <a:t>ข้อมูลที่ส่งเข้า component จากภายนอก เหมือนพารามิเตอร์ของฟังก์ชัน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91640" y="4407408"/>
            <a:ext cx="138988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91640" y="4407408"/>
            <a:ext cx="1389888" cy="4572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764792" y="4480560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6FA8"/>
                </a:solidFill>
                <a:latin typeface="Consolas"/>
              </a:rPr>
              <a:t>Emit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64792" y="4700016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A82"/>
                </a:solidFill>
                <a:latin typeface="Calibri"/>
              </a:rPr>
              <a:t>ส่ง event ออกจาก component ไปยัง parent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54680" y="4407408"/>
            <a:ext cx="138988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154680" y="4407408"/>
            <a:ext cx="1389888" cy="45720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27832" y="4480560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A35B8"/>
                </a:solidFill>
                <a:latin typeface="Consolas"/>
              </a:rPr>
              <a:t>Slot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27832" y="4700016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A82"/>
                </a:solidFill>
                <a:latin typeface="Calibri"/>
              </a:rPr>
              <a:t>พื้นที่ใน component ที่รับ HTML จากภายนอกได้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17720" y="4407408"/>
            <a:ext cx="138988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617720" y="4407408"/>
            <a:ext cx="1389888" cy="4572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90872" y="4480560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7A83"/>
                </a:solidFill>
                <a:latin typeface="Consolas"/>
              </a:rPr>
              <a:t>&lt;template&gt;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90872" y="4700016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A82"/>
                </a:solidFill>
                <a:latin typeface="Calibri"/>
              </a:rPr>
              <a:t>ส่วน HTML/UI ของ .vue file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80760" y="4407408"/>
            <a:ext cx="138988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080760" y="4407408"/>
            <a:ext cx="1389888" cy="4572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53912" y="4480560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E181C"/>
                </a:solidFill>
                <a:latin typeface="Consolas"/>
              </a:rPr>
              <a:t>&lt;script setup&gt;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53912" y="4700016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A82"/>
                </a:solidFill>
                <a:latin typeface="Calibri"/>
              </a:rPr>
              <a:t>ส่วน JavaScript/TypeScript ของ .vue file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43800" y="4407408"/>
            <a:ext cx="138988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543800" y="4407408"/>
            <a:ext cx="1389888" cy="45720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16952" y="4480560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206"/>
                </a:solidFill>
                <a:latin typeface="Consolas"/>
              </a:rPr>
              <a:t>&lt;style scoped&gt;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16952" y="4700016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A82"/>
                </a:solidFill>
                <a:latin typeface="Calibri"/>
              </a:rPr>
              <a:t>CSS ที่ใช้ได้เฉพาะ component นี้เท่านั้น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🗄  Supabase Tables — ฐานข้อมูลทั้งหมด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210312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3151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A8"/>
                </a:solidFill>
                <a:latin typeface="Consolas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241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ข้อมูล user ทุกคน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1344168"/>
            <a:ext cx="1956816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44752"/>
            <a:ext cx="54864" cy="10972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4081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73352"/>
            <a:ext cx="54864" cy="10972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6367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full_name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01952"/>
            <a:ext cx="54864" cy="10972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18653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email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30552"/>
            <a:ext cx="54864" cy="10972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0939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password_hash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359152"/>
            <a:ext cx="54864" cy="10972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23225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25603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A82"/>
                </a:solidFill>
                <a:latin typeface="Calibri"/>
              </a:rPr>
              <a:t>+ 1 more...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50592" y="658368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50592" y="658368"/>
            <a:ext cx="2103120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42032" y="73151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A83"/>
                </a:solidFill>
                <a:latin typeface="Consolas"/>
              </a:rPr>
              <a:t>machines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10241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เครื่องจักรทั้งหมด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23744" y="1344168"/>
            <a:ext cx="1956816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42032" y="1444752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14081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42032" y="1673352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16367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name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42032" y="1901952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18653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type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2032" y="2130552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20939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42032" y="2359152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23225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42032" y="25603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A82"/>
                </a:solidFill>
                <a:latin typeface="Calibri"/>
              </a:rPr>
              <a:t>+ 1 more...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72584" y="658368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72584" y="658368"/>
            <a:ext cx="210312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64024" y="73151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81C"/>
                </a:solidFill>
                <a:latin typeface="Consolas"/>
              </a:rPr>
              <a:t>machine_alarm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4024" y="10241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บันทึก alarm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45736" y="1344168"/>
            <a:ext cx="1956816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64024" y="1444752"/>
            <a:ext cx="54864" cy="10972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73752" y="14081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64024" y="1673352"/>
            <a:ext cx="54864" cy="10972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3752" y="16367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machine_id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64024" y="1901952"/>
            <a:ext cx="54864" cy="10972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73752" y="18653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alarm_name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64024" y="2130552"/>
            <a:ext cx="54864" cy="10972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73752" y="20939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alarm_code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64024" y="2359152"/>
            <a:ext cx="54864" cy="10972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73752" y="23225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start_time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64024" y="25603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A82"/>
                </a:solidFill>
                <a:latin typeface="Calibri"/>
              </a:rPr>
              <a:t>+ 1 more...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94576" y="658368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94576" y="658368"/>
            <a:ext cx="2103120" cy="54864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86016" y="73151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5B8"/>
                </a:solidFill>
                <a:latin typeface="Consolas"/>
              </a:rPr>
              <a:t>machine_status_log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86016" y="10241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Log สถานะ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67728" y="1344168"/>
            <a:ext cx="1956816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986016" y="1444752"/>
            <a:ext cx="54864" cy="109728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95744" y="14081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86016" y="1673352"/>
            <a:ext cx="54864" cy="109728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95744" y="16367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machine_id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86016" y="1901952"/>
            <a:ext cx="54864" cy="109728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95744" y="18653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status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86016" y="2130552"/>
            <a:ext cx="54864" cy="109728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95744" y="20939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timestamp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86016" y="2359152"/>
            <a:ext cx="54864" cy="109728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95744" y="23225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note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2898648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8600" y="2898648"/>
            <a:ext cx="2103120" cy="54864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2971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206"/>
                </a:solidFill>
                <a:latin typeface="Consolas"/>
              </a:rPr>
              <a:t>machine_layout_point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" y="32644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ตำแหน่งบน layout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" y="3584448"/>
            <a:ext cx="1956816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0040" y="3685031"/>
            <a:ext cx="54864" cy="109728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9768" y="36484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3913632"/>
            <a:ext cx="54864" cy="109728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" y="38770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machine_id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142232"/>
            <a:ext cx="54864" cy="109728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9768" y="41056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370832"/>
            <a:ext cx="54864" cy="109728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9768" y="43342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4599432"/>
            <a:ext cx="54864" cy="109728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" y="45628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created_at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450592" y="2898648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450592" y="2898648"/>
            <a:ext cx="2103120" cy="54864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42032" y="2971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873A"/>
                </a:solidFill>
                <a:latin typeface="Consolas"/>
              </a:rPr>
              <a:t>machine_oee_daily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42032" y="32644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OEE รายวัน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23744" y="3584448"/>
            <a:ext cx="1956816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542032" y="3685031"/>
            <a:ext cx="54864" cy="109728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51760" y="36484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42032" y="3913632"/>
            <a:ext cx="54864" cy="109728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651760" y="38770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machine_id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542032" y="4142232"/>
            <a:ext cx="54864" cy="109728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51760" y="41056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date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542032" y="4370832"/>
            <a:ext cx="54864" cy="109728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651760" y="43342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availability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542032" y="4599432"/>
            <a:ext cx="54864" cy="109728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51760" y="45628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performance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542032" y="48006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A82"/>
                </a:solidFill>
                <a:latin typeface="Calibri"/>
              </a:rPr>
              <a:t>+ 2 more...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72584" y="2898648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672584" y="2898648"/>
            <a:ext cx="2103120" cy="54864"/>
          </a:xfrm>
          <a:prstGeom prst="rect">
            <a:avLst/>
          </a:prstGeom>
          <a:solidFill>
            <a:srgbClr val="B55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64024" y="2971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560A"/>
                </a:solidFill>
                <a:latin typeface="Consolas"/>
              </a:rPr>
              <a:t>production_daily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64024" y="32644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ยอดผลิตรวม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745736" y="3584448"/>
            <a:ext cx="1956816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764024" y="3685031"/>
            <a:ext cx="54864" cy="109728"/>
          </a:xfrm>
          <a:prstGeom prst="rect">
            <a:avLst/>
          </a:prstGeom>
          <a:solidFill>
            <a:srgbClr val="B55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873752" y="36484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764024" y="3913632"/>
            <a:ext cx="54864" cy="109728"/>
          </a:xfrm>
          <a:prstGeom prst="rect">
            <a:avLst/>
          </a:prstGeom>
          <a:solidFill>
            <a:srgbClr val="B55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873752" y="38770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total_production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64024" y="4142232"/>
            <a:ext cx="54864" cy="109728"/>
          </a:xfrm>
          <a:prstGeom prst="rect">
            <a:avLst/>
          </a:prstGeom>
          <a:solidFill>
            <a:srgbClr val="B55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873752" y="41056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efficiency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764024" y="4370832"/>
            <a:ext cx="54864" cy="109728"/>
          </a:xfrm>
          <a:prstGeom prst="rect">
            <a:avLst/>
          </a:prstGeom>
          <a:solidFill>
            <a:srgbClr val="B55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73752" y="43342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created_at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94576" y="2898648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94576" y="2898648"/>
            <a:ext cx="2103120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86016" y="2971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A83"/>
                </a:solidFill>
                <a:latin typeface="Consolas"/>
              </a:rPr>
              <a:t>machine_status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86016" y="32644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สถานะ real-time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967728" y="3584448"/>
            <a:ext cx="1956816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986016" y="3685031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095744" y="36484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986016" y="3913632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095744" y="38770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machine_id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986016" y="4142232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095744" y="41056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line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986016" y="4370832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095744" y="43342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station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986016" y="4599432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095744" y="45628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onsolas"/>
              </a:rPr>
              <a:t>status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986016" y="48006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A82"/>
                </a:solidFill>
                <a:latin typeface="Calibri"/>
              </a:rPr>
              <a:t>+ 2 more...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👤  สิทธิ์ผู้ใช้ (Roles) &amp; Auth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411480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64008" cy="425196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A8"/>
                </a:solidFill>
                <a:latin typeface="Calibri"/>
              </a:rPr>
              <a:t>User Roles — ระดับสิทธิ์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1704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สิทธิ์ที่ได้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44752"/>
            <a:ext cx="393192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36192"/>
            <a:ext cx="3931920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536192"/>
            <a:ext cx="54864" cy="502920"/>
          </a:xfrm>
          <a:prstGeom prst="rect">
            <a:avLst/>
          </a:prstGeom>
          <a:solidFill>
            <a:srgbClr val="55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64207"/>
            <a:ext cx="640080" cy="237744"/>
          </a:xfrm>
          <a:prstGeom prst="rect">
            <a:avLst/>
          </a:prstGeom>
          <a:solidFill>
            <a:srgbClr val="55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691639"/>
            <a:ext cx="585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1664207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ดูข้อมูล dashboard ทั่วไปได้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0312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103120"/>
            <a:ext cx="54864" cy="50292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231136"/>
            <a:ext cx="690372" cy="23774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258568"/>
            <a:ext cx="6355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23113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จัดการผู้ใช้ใน settings page ได้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670048"/>
            <a:ext cx="3931920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670048"/>
            <a:ext cx="54864" cy="50292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798064"/>
            <a:ext cx="1124712" cy="23774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825496"/>
            <a:ext cx="1069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superadmin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279806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สิทธิ์สูงกว่า admin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36976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236976"/>
            <a:ext cx="54864" cy="502920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364992"/>
            <a:ext cx="690372" cy="237744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392424"/>
            <a:ext cx="6355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33649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สิทธิ์สูงสุด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8770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81C"/>
                </a:solidFill>
                <a:latin typeface="Consolas"/>
              </a:rPr>
              <a:t>active: 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133087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A82"/>
                </a:solidFill>
                <a:latin typeface="Calibri"/>
              </a:rPr>
              <a:t>= บัญชีที่เพิ่งสมัคร รอ Admin อนุมัติก่อนเข้าได้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658368"/>
            <a:ext cx="438912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26280" y="658368"/>
            <a:ext cx="64008" cy="425196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7315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E181C"/>
                </a:solidFill>
                <a:latin typeface="Calibri"/>
              </a:rPr>
              <a:t>Auth Flow — ขั้นตอนการ Login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1170432"/>
            <a:ext cx="274320" cy="274320"/>
          </a:xfrm>
          <a:prstGeom prst="rect">
            <a:avLst/>
          </a:prstGeom>
          <a:solidFill>
            <a:srgbClr val="55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18872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11978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User กรอก email + password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45152" y="1764792"/>
            <a:ext cx="274320" cy="27432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45152" y="17830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179222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signIn() → query Supabase users table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45152" y="2359152"/>
            <a:ext cx="274320" cy="274320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45152" y="23774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238658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ถ้าเจอ user + password ถูก → applySession()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45152" y="2953512"/>
            <a:ext cx="274320" cy="274320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5152" y="29718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29809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บันทึก session ลง localStorage (key: nic_auth)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45152" y="3547872"/>
            <a:ext cx="274320" cy="274320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45152" y="35661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3575303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navigateTo('/home') → redirect สำเร็จ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45152" y="4187952"/>
            <a:ext cx="416052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45152" y="42702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A82"/>
                </a:solidFill>
                <a:latin typeface="Calibri"/>
              </a:rPr>
              <a:t>🚫 ถ้า Login ไม่สำเร็จ → error message บนหน้า login.vue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🔄  Data Flow — การทำงานของระบบ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85800"/>
            <a:ext cx="135331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1353312" cy="54864"/>
          </a:xfrm>
          <a:prstGeom prst="rect">
            <a:avLst/>
          </a:prstGeom>
          <a:solidFill>
            <a:srgbClr val="55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777240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👤 User
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" y="1389888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7590"/>
                </a:solidFill>
                <a:latin typeface="Calibri"/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9875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A82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1368" y="685800"/>
            <a:ext cx="135331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01368" y="685800"/>
            <a:ext cx="1353312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56232" y="777240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🔒 auth.global
middleware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2" y="1389888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7590"/>
                </a:solidFill>
                <a:latin typeface="Calibri"/>
              </a:rPr>
              <a:t>Route 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9875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A82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2696" y="685800"/>
            <a:ext cx="135331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82696" y="685800"/>
            <a:ext cx="1353312" cy="54864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777240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🗺 Layout
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389888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7590"/>
                </a:solidFill>
                <a:latin typeface="Calibri"/>
              </a:rPr>
              <a:t>UI 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9875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A82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4024" y="685800"/>
            <a:ext cx="135331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64024" y="685800"/>
            <a:ext cx="1353312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777240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📄 Page
Component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1389888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7590"/>
                </a:solidFill>
                <a:latin typeface="Calibri"/>
              </a:rPr>
              <a:t>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9875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A82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685800"/>
            <a:ext cx="135331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5352" y="685800"/>
            <a:ext cx="1353312" cy="54864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777240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🪝 Composable
useXxx()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1389888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7590"/>
                </a:solidFill>
                <a:latin typeface="Calibri"/>
              </a:rPr>
              <a:t>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9875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A82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26680" y="685800"/>
            <a:ext cx="135331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26680" y="685800"/>
            <a:ext cx="1353312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81544" y="777240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🗄 Supabase
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1544" y="1389888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7590"/>
                </a:solidFill>
                <a:latin typeface="Calibri"/>
              </a:rPr>
              <a:t>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19659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B0C8"/>
                </a:solidFill>
                <a:latin typeface="Calibri"/>
              </a:rPr>
              <a:t>จุดสำคัญในระบบ: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304288"/>
            <a:ext cx="4160520" cy="1170432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2304288"/>
            <a:ext cx="64008" cy="117043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237744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E181C"/>
                </a:solidFill>
                <a:latin typeface="Consolas"/>
              </a:rPr>
              <a:t>auth.global.ts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2688336"/>
            <a:ext cx="3794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8"/>
                </a:solidFill>
                <a:latin typeface="Calibri"/>
              </a:rPr>
              <a:t>ตรวจสอบ session ทุกครั้ง
redirect /login ถ้าไม่ login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79" y="2304288"/>
            <a:ext cx="4160520" cy="1170432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54879" y="2304288"/>
            <a:ext cx="64008" cy="1170432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19471" y="237744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7A83"/>
                </a:solidFill>
                <a:latin typeface="Consolas"/>
              </a:rPr>
              <a:t>plugins/supabase.ts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9471" y="2688336"/>
            <a:ext cx="3794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8"/>
                </a:solidFill>
                <a:latin typeface="Calibri"/>
              </a:rPr>
              <a:t>inject $supabase
เป็น global plugin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602736"/>
            <a:ext cx="4160520" cy="1170432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3602736"/>
            <a:ext cx="64008" cy="1170432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3675887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A8"/>
                </a:solidFill>
                <a:latin typeface="Consolas"/>
              </a:rPr>
              <a:t>useState()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3986784"/>
            <a:ext cx="3794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8"/>
                </a:solidFill>
                <a:latin typeface="Calibri"/>
              </a:rPr>
              <a:t>shared state ระหว่าง composables
และ components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79" y="3602736"/>
            <a:ext cx="4160520" cy="1170432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54879" y="3602736"/>
            <a:ext cx="64008" cy="1170432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1" y="3675887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206"/>
                </a:solidFill>
                <a:latin typeface="Consolas"/>
              </a:rPr>
              <a:t>localStorage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19471" y="3986784"/>
            <a:ext cx="3794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8"/>
                </a:solidFill>
                <a:latin typeface="Calibri"/>
              </a:rPr>
              <a:t>เก็บ session data
ระหว่าง page refresh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4008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📖  สรุปศัพท์ทั้งหมด — Quick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54864" cy="502920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" y="69494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873A"/>
                </a:solidFill>
                <a:latin typeface="Consolas"/>
              </a:rPr>
              <a:t>Vue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923544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JS framework สร้าง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25295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25295"/>
            <a:ext cx="54864" cy="50292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" y="126187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A8"/>
                </a:solidFill>
                <a:latin typeface="Consolas"/>
              </a:rPr>
              <a:t>Nuxt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1490472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Framework ครอบ Vue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92224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792224"/>
            <a:ext cx="54864" cy="502920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82880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5B8"/>
                </a:solidFill>
                <a:latin typeface="Consolas"/>
              </a:rPr>
              <a:t>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57400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JS + type checking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359152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359152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39572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onsolas"/>
              </a:rPr>
              <a:t>Tailwind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624328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Utility-first CSS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926080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2926080"/>
            <a:ext cx="54864" cy="502920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296265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206"/>
                </a:solidFill>
                <a:latin typeface="Consolas"/>
              </a:rPr>
              <a:t>DaisyUI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91256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Component library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493008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3493008"/>
            <a:ext cx="54864" cy="50292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352958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A83"/>
                </a:solidFill>
                <a:latin typeface="Consolas"/>
              </a:rPr>
              <a:t>Supabase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758184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Backend as a 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059935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4059935"/>
            <a:ext cx="54864" cy="50292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4096511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A83"/>
                </a:solidFill>
                <a:latin typeface="Consolas"/>
              </a:rPr>
              <a:t>Plugin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325112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code รันครั้งเดียว @init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4626864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4626864"/>
            <a:ext cx="54864" cy="502920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" y="466344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873A"/>
                </a:solidFill>
                <a:latin typeface="Consolas"/>
              </a:rPr>
              <a:t>Composable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92040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Logic ที่ใช้ซ้ำ (use...)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72968" y="658368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72968" y="658368"/>
            <a:ext cx="54864" cy="50292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00984" y="69494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81C"/>
                </a:solidFill>
                <a:latin typeface="Consolas"/>
              </a:rPr>
              <a:t>Middleware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00984" y="923544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code รันก่อน render หน้า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72968" y="1225295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72968" y="1225295"/>
            <a:ext cx="54864" cy="502920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00984" y="126187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5B8"/>
                </a:solidFill>
                <a:latin typeface="Consolas"/>
              </a:rPr>
              <a:t>Layout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00984" y="1490472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โครงร่าง UI ที่แชร์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72968" y="1792224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72968" y="1792224"/>
            <a:ext cx="54864" cy="50292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00984" y="182880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A8"/>
                </a:solidFill>
                <a:latin typeface="Consolas"/>
              </a:rPr>
              <a:t>Component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00984" y="2057400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ส่วน UI ย่อย .vue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72968" y="2359152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72968" y="2359152"/>
            <a:ext cx="54864" cy="502920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00984" y="239572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873A"/>
                </a:solidFill>
                <a:latin typeface="Consolas"/>
              </a:rPr>
              <a:t>Props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00984" y="2624328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ข้อมูลส่งเข้า component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72968" y="2926080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72968" y="2926080"/>
            <a:ext cx="54864" cy="502920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00984" y="296265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206"/>
                </a:solidFill>
                <a:latin typeface="Consolas"/>
              </a:rPr>
              <a:t>&lt;slot /&gt;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00984" y="3191256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พื้นที่รับ HTML จาก parent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72968" y="3493008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172968" y="3493008"/>
            <a:ext cx="54864" cy="502920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00984" y="352958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5B8"/>
                </a:solidFill>
                <a:latin typeface="Consolas"/>
              </a:rPr>
              <a:t>ref()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00984" y="3758184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reactive variable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72968" y="4059935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72968" y="4059935"/>
            <a:ext cx="54864" cy="50292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00984" y="4096511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A8"/>
                </a:solidFill>
                <a:latin typeface="Consolas"/>
              </a:rPr>
              <a:t>computed()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00984" y="4325112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ค่าคำนวณจาก state อื่น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72968" y="4626864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172968" y="4626864"/>
            <a:ext cx="54864" cy="50292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00984" y="466344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A83"/>
                </a:solidFill>
                <a:latin typeface="Consolas"/>
              </a:rPr>
              <a:t>useState()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00984" y="4892040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shared state ทั่วแอป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17336" y="658368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17336" y="658368"/>
            <a:ext cx="54864" cy="502920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45352" y="69494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206"/>
                </a:solidFill>
                <a:latin typeface="Consolas"/>
              </a:rPr>
              <a:t>onMounted()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45352" y="923544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รันหลัง render เสร็จ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17336" y="1225295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17336" y="1225295"/>
            <a:ext cx="54864" cy="50292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45352" y="126187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A8"/>
                </a:solidFill>
                <a:latin typeface="Consolas"/>
              </a:rPr>
              <a:t>definePageMeta()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45352" y="1490472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กำหนด layout/middleware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17336" y="1792224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17336" y="1792224"/>
            <a:ext cx="54864" cy="50292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45352" y="182880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A83"/>
                </a:solidFill>
                <a:latin typeface="Consolas"/>
              </a:rPr>
              <a:t>navigateTo()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5352" y="2057400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redirect ไปหน้าอื่น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17336" y="2359152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17336" y="2359152"/>
            <a:ext cx="54864" cy="50292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45352" y="239572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A83"/>
                </a:solidFill>
                <a:latin typeface="Consolas"/>
              </a:rPr>
              <a:t>$supabase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45352" y="2624328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Supabase client (inject)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17336" y="2926080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117336" y="2926080"/>
            <a:ext cx="54864" cy="502920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45352" y="296265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873A"/>
                </a:solidFill>
                <a:latin typeface="Consolas"/>
              </a:rPr>
              <a:t>.from().select()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45352" y="3191256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query จาก table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17336" y="3493008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117336" y="3493008"/>
            <a:ext cx="54864" cy="502920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45352" y="352958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206"/>
                </a:solidFill>
                <a:latin typeface="Consolas"/>
              </a:rPr>
              <a:t>localStorage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5352" y="3758184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เก็บข้อมูลใน browser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17336" y="4059935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17336" y="4059935"/>
            <a:ext cx="54864" cy="50292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45352" y="4096511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81C"/>
                </a:solidFill>
                <a:latin typeface="Consolas"/>
              </a:rPr>
              <a:t>active: false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45352" y="4325112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รอ Admin อนุมัติ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17336" y="4626864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117336" y="4626864"/>
            <a:ext cx="54864" cy="502920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45352" y="466344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5B8"/>
                </a:solidFill>
                <a:latin typeface="Consolas"/>
              </a:rPr>
              <a:t>OEE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45352" y="4892040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A82"/>
                </a:solidFill>
                <a:latin typeface="Calibri"/>
              </a:rPr>
              <a:t>Availability×Perf×Quality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70848" y="73152"/>
            <a:ext cx="73152" cy="507034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สรุปโครงสร้าง /app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170432"/>
            <a:ext cx="219456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263347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64008" cy="100584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3990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E181C"/>
                </a:solidFill>
                <a:latin typeface="Calibri"/>
              </a:rPr>
              <a:t>⚡  Entry + CSS + Plugin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78308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1 app.vue + 1 main.css + 1 supabase.ts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325880"/>
            <a:ext cx="263347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325880"/>
            <a:ext cx="64008" cy="100584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3990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A8"/>
                </a:solidFill>
                <a:latin typeface="Calibri"/>
              </a:rPr>
              <a:t>🧩  3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178308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AlarmPopup, MachineLayoutViewer, MachineNode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325880"/>
            <a:ext cx="263347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325880"/>
            <a:ext cx="64008" cy="1005840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13990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873A"/>
                </a:solidFill>
                <a:latin typeface="Calibri"/>
              </a:rPr>
              <a:t>🪝  3 Composables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178308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useAuth, useMachines, useAdmin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441448"/>
            <a:ext cx="263347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441448"/>
            <a:ext cx="64008" cy="1005840"/>
          </a:xfrm>
          <a:prstGeom prst="rect">
            <a:avLst/>
          </a:prstGeom>
          <a:solidFill>
            <a:srgbClr val="6A3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35B8"/>
                </a:solidFill>
                <a:latin typeface="Calibri"/>
              </a:rPr>
              <a:t>🔒  2 Middlewares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289864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auth.global (ทุก route) + admin (named)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441448"/>
            <a:ext cx="263347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2441448"/>
            <a:ext cx="64008" cy="100584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7A83"/>
                </a:solidFill>
                <a:latin typeface="Calibri"/>
              </a:rPr>
              <a:t>🗺  2 Layouts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289864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default (public) + dashboard (monitoring)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441448"/>
            <a:ext cx="263347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2441448"/>
            <a:ext cx="64008" cy="1005840"/>
          </a:xfrm>
          <a:prstGeom prst="rect">
            <a:avLst/>
          </a:prstGeom>
          <a:solidFill>
            <a:srgbClr val="D97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3912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206"/>
                </a:solidFill>
                <a:latin typeface="Calibri"/>
              </a:rPr>
              <a:t>📄  10+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289864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4 public + 5 dashboard sub-pages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557015"/>
            <a:ext cx="263347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3557015"/>
            <a:ext cx="64008" cy="1005840"/>
          </a:xfrm>
          <a:prstGeom prst="rect">
            <a:avLst/>
          </a:prstGeom>
          <a:solidFill>
            <a:srgbClr val="16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36301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873A"/>
                </a:solidFill>
                <a:latin typeface="Calibri"/>
              </a:rPr>
              <a:t>🗄  8 DB Tables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4014215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Supabase PostgreSQL backend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3557015"/>
            <a:ext cx="263347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3557015"/>
            <a:ext cx="64008" cy="100584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64992" y="36301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A8"/>
                </a:solidFill>
                <a:latin typeface="Calibri"/>
              </a:rPr>
              <a:t>📚  23+ ศัพท์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2" y="4014215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Framework, Vue, Nuxt, DB, Auth, Roles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557015"/>
            <a:ext cx="2633472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89320" y="3557015"/>
            <a:ext cx="64008" cy="100584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53912" y="36301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E181C"/>
                </a:solidFill>
                <a:latin typeface="Calibri"/>
              </a:rPr>
              <a:t>👤  4 Roles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53912" y="4014215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user / admin / superadmin / owner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54865"/>
                </a:solidFill>
                <a:latin typeface="Calibri"/>
              </a:rPr>
              <a:t>Nawaloha Industry Company (NIC) — Tire Production Monitoring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